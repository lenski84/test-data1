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5a976cb6-c710-f0cc-beb9-e60298d90056}">
          <p14:sldIdLst>
            <p14:sldId id="256"/>
            <p14:sldId id="257"/>
          </p14:sldIdLst>
        </p14:section>
        <p14:section name="Hauptteil" id="{d4428d9e-6f24-8a47-0df3-c58fde1d130e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Backup" id="{6a50eabb-05e4-c978-9e76-03c9354df399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Anteil</c:v>
                </c:pt>
              </c:strCache>
            </c:strRef>
          </c:tx>
          <c:spPr>
            <a:solidFill>
              <a:srgbClr val="646464"/>
            </a:solidFill>
            <a:effectLst/>
          </c:spPr>
          <c:invertIfNegative val="0"/>
          <c:dLbls>
            <c:numFmt formatCode="0.0&quot; %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646464"/>
                    </a:solidFill>
                    <a:latin typeface="Barlo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464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464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464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646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4646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893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Lieferzeit zu lang</c:v>
                  </c:pt>
                  <c:pt idx="1">
                    <c:v>Kein Vertrauen als Neulieferant</c:v>
                  </c:pt>
                  <c:pt idx="2">
                    <c:v>Verschoben</c:v>
                  </c:pt>
                  <c:pt idx="3">
                    <c:v>Sonstige Gründe</c:v>
                  </c:pt>
                  <c:pt idx="4">
                    <c:v>Projektausführung im Vorprojekt</c:v>
                  </c:pt>
                  <c:pt idx="5">
                    <c:v>Kosten zu hoch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</c:v>
                </c:pt>
                <c:pt idx="1">
                  <c:v>1.2</c:v>
                </c:pt>
                <c:pt idx="2">
                  <c:v>3.6</c:v>
                </c:pt>
                <c:pt idx="3">
                  <c:v>5.2</c:v>
                </c:pt>
                <c:pt idx="4">
                  <c:v>10.7</c:v>
                </c:pt>
                <c:pt idx="5">
                  <c:v>78.8</c:v>
                </c:pt>
              </c:numCache>
            </c:numRef>
          </c:val>
        </c:ser>
        <c:dLbls>
          <c:numFmt formatCode="0.0&quot; %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646464"/>
                  </a:solidFill>
                  <a:latin typeface="Barlo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646464"/>
                </a:solidFill>
                <a:latin typeface="Barlo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1C1C1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646464"/>
                </a:solidFill>
                <a:latin typeface="Barlo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0:15 min | kumuliert: 0:15
- Begrüßung, Name, Kurs WWI24SCA, Praxispartner Schaeffler Technologies AG &amp; Co. KG
- Thema: Strategie- und Maßnahmenentwicklung für den Schaeffler Sondermaschinenbau (SMB) auf Basis eines externen Benchmarks
- Hinweis: Arbeit mit Sperrvermerk, Benchmark-Daten sind vertraulich
- Betreuung: Verena Becs (Unternehmen), Prof. Dr. Frank Koslowski (DHBW); Bearbeitungszeitraum 11.05.–20.08.2026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0:30 min | kumuliert: 0:45
- Aufbau folgt der Logik: Ausgangslage → Problem → Methodik → Ergebnisse → Evaluation → Reflexion → Fazit
- Kern der Arbeit: Abgleich Innen- (VRIO) und Außensicht (Benchmark) per GAP-Analyse
- Ergebnis: 5 Optionen, SAF-bewertet, in Roadmap überführt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1:15 min | kumuliert: 2:00
- SMB: Entwicklung, Konstruktion, Fertigung, Montage, Inbetriebnahme; Spannungsfeld interne Industriefunktion vs. externe Wettbewerbsfähigkeit
- Ausgangslage ambivalent: starke technische Basis, aber deutliche Schwächen in der Kostenstruktur
- Cheraw: kleines, multifunktionales Setup → Agilität, aber Überlastung, geringe Spezialisierung, fragmentierte Steuerung
- Warum innen + außen: Eine Ressource kann intern als Stärke gelten, ohne extern einen Vorteil zu erzeugen (Baden-Fuller, 1995)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1:30 min | kumuliert: 3:30
- 482 von 612 Mio. EUR verlorenem Auftragsvolumen entfallen auf „zu hohe Kosten“ (78,8 %)
- Zweitgrößter Grund: mangelhafte Projektausführung im Vorprojekt (10,7 %) → Ausführung, nicht Technik
- Kostenindex: SMB 100 vs. westliche Wettbewerber ca. 90–95 vs. chinesische ca. 55–65
- Plausibilisierung: deutsche Lohnstückkosten 2024 rund 22 % über dem Durchschnitt von 27 Industriestaaten (Schröder, IW-Trends 2/2025, S. 1)
Mögliche Prüferfrage: Wie belastbar ist der Benchmark eines Beraters? / Antwortlinie: „outside-in and directional“; extern plausibilisiert (IW +22 %, Infront 2026) und intern über Interviews gespiegelt.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0:45 min | kumuliert: 4:15
- Forschungsfrage in zwei Teilen erläutern: (1) Handlungsfelder identifizieren, (2) Initiativen ableiten und priorisieren
- Zielsetzung anwendungsorientiert: nicht bei der Analyse enden, sondern erste Umsetzungslogik (Roadmap) ableiten
- Überleitung: Wie wurde das methodisch gelöst?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1:30 min | kumuliert: 5:45
- Exploring Strategy (Johnson/Whittington) als Klammer: Position → Choices → Action = Kapitel 3–5
- VRIO bewertet das interne Ist, der Benchmark liefert das externe Soll; GAP-Analyse leitet Handlungsfelder ab
- Strategy Clock + Ansoff leiten 5 Optionen ab, SAF bewertet und priorisiert sie (Suitability, Acceptability, Feasibility)
- Interviews: Taicang (Commercial Sales), Europa (External KAM), Cheraw (PMO); MS Teams; Validierung, Präzisierung, Kontextualisierung – keine statistische Repräsentativität
- Benchmark-Inhalte: Kostenindex, Verlustauftragsanalyse, Peer-Radar, Kundenerfolgsfaktoren
Mögliche Prüferfrage: Was ist Ihre Eigenleistung? / Antwortlinie: Benchmark-Daten übernommen; Bezugsrahmen, Interviews, VRIO, GAP, Optionen, SAF und Roadmap eigen.
Mögliche Prüferfrage: Sind 3 Interviews repräsentativ? / Antwortlinie: Nein, ausdrücklich nicht beansprucht; Hauptdatenbasis ist der Benchmark, Interviews plausibilisieren; Ausweitung ist Folgeschritt.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1:15 min | kumuliert: 7:00
- Kernbefund (grün hervorgehobene Spalte): Organization nur bei finanzieller Stabilität erfüllt – Stärken werden nicht in Prozesse und Standards übersetzt
- Technologie: wertvoll, aber nicht selten; Wissen an Personen, Standorte, Einzelprojekte gebunden (gestützt durch Infront Consulting, 2026)
- Preis/Kosten: kritischste Dimension, keine VRIO-Ressource, sondern Ergebnis der Organisation – daher Rarity/Imitability „–“
- Service: „größtes Sorgenkind“, aber Potenzial; Netzwerk wertvoll, aber unzureichend koordiniert
- Lesart: Ja/hoch = grün, mittel/teilweise = hellgrün, nein/niedrig = grau, n/a/–/n.b. = weiß
Prüferfrage: Widerspruch Finanzielle Stabilität (Tabelle „nachhaltig“, Text „Vertrauensanker“)? / Antwortlinie: Formal VRIO-erfüllt (Konzernrückhalt schwer kopierbar), strategisch aber unterstützende Ressource ohne eigenen Differenzierungshebel; die Tabelle verkürzt das zu stark – offen eingestehen.
Prüferfrage: Mitarbeiter- und Kompetenzstruktur kaum diskutiert? / Antwortlinie: aus Interviews ableitbar: Unterbesetzung im KAM, Fluktuation erfahrener Designer/Technical Sales, Rollenüberlastung in Cheraw, fehlende eigene Prozessparameter-Entwicklung bei Kleben/Schweißen.
Prüferfrage: Technologie „nicht selten“ vs. Rarity „Mittel“? / Antwortlinie: spezifisches Ramp-up- und Anlagenbau-Know-how nicht vollständig marktüblich; ohne Organisation aber nicht nachhaltig.
Prüferfrage: Nicht-Standard-Klassifikationen („Gemischt“ etc.)? / Antwortlinie: bewusste fallbezogene Präzisierung des klassischen VRIO-Rasters.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1:30 min | kumuliert: 8:30
- Ist = internes VRIO-Profil, Soll = externe Anforderungen aus dem Benchmark
- Drei priorisierte Gaps: Kosten (78,8 % der Verlustaufträge), Standardisierung (strukturelle Ursache), Tendering/Projektsteuerung (10,7 %)
- Technologie/Qualität: Fit – positiver Befund; Benchmark-Fazit: „An industrialization gap, not a technology gap.“
- Gesamtbefund: Lücke liegt in der Verknüpfung von Planung, Ausführung und Rückkopplung (Engineering, Manufacturing, Projektsteuerung, Wissenstransfer)
- Peer-Radar: SMB bei Kosten, Standardisierung, Tendering u. a. ca. 1–2 Punkte hinter westlichen Peers (Skala 1–5) → B7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1:15 min | kumuliert: 9:45
- Heute: erhöhter Preis bei nur durchschnittlichem, nicht klar differenziertem Nutzen → näher an einer Risikoposition als an stabiler Differenzierung
- Ziel kurz-/mittelfristig: Hybridposition (Kosten + Modularität machen Preis wettbewerbsfähig; Service + Technik sichern Zusatznutzen)
- Langfristig: fokussierte Differenzierung in weniger preissensitiven Branchen (Medtech, Elektrifizierung)
- Option 3 voll: Industrialisierung von Tendering und Projektsteuerung; Option 5: in Wachstumsverticals, zwischen Marktentwicklung und Diversifikation (Ansoff)
Prüferfrage: Option 3 passt in kein Modell? / Antwortlinie: operative Voraussetzung, direkt aus dem GAP (10,7 % der Verlustaufträge durch Projektausführung) und dem Cheraw-Interview abgeleitet.
Prüferfrage: Warum keine Kostenführerschaft und kein Outsourcing? / Antwortlinie: strukturelle Kostenbasis; Outsourcing schwächt kundennahe Engineering-Kompetenz → B11.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1:15 min | kumuliert: 11:00
- Suitability = Passung zu den Gaps, Acceptability = Akzeptanz bei Management, Mitarbeitenden, Kunden, Feasibility = Umsetzbarkeit
- Kurzfristig hoch: Kostenoptimierung (größter Hebel, Funktionen vorhanden) und Tendering/Projektsteuerung (hohe Akzeptanz durch Transparenz)
- Priorisierungslogik (untere Leiste): erst Kosten- und Ausführungslücke, dann Differenzierung, dann Wachstum – verhindert, dass Schwächen in neue Märkte übertragen werden
- Diversifikation: kurzfristig gering umsetzbar – Referenzen und Marktverständnis fehlen noch
Prüferfrage: Warum kein Scoring – ist das nicht subjektiv? / Antwortlinie: bewusster Verzicht, um Scheingenauigkeit bei explorativer Datenbasis zu vermeiden; Bewertungsregeln sind offengelegt.
Prüferfrage: Acceptability Kosten nur „mittel–hoch“? / Antwortlinie: Kostensenkung trifft Mitarbeitende; Fokus auf Transparenz, Design-to-Cost und Prozessverzahnung statt Personalabbau; „not to chase Chinese cost structures“.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1:30 min | kumuliert: 12:30
- Phase 1 (0–6 M): Design-to-Cost-Reviews in der Angebotsphase, Kostenmonitoring der Materialtreiber, Angebotsreviews, einheitliches Statusformat, Verknüpfung Angebots- und Nachkalkulation, idealerweise zentrales System für PM, Forecasting, Action Tracking
- Phase 2 (6–18 M): Modul-Pilot (hohe Wiederholhäufigkeit, relevanter Kostenanteil, geringer Differenzierungsbedarf), Servicepakete (Ersatzteile, Reaktionszeiten, Wartung, Remote Support, Modernisierung), DFM, Kapazitätsplanung, Lessons Learned; verantwortlich auch Plattformverantwortliche
- Phase 3 (12–24 M): fokussierter Ansatz je Vertical (Zielkunden, Use Cases, Regulatorik, Referenzen, Wertversprechen); Nachfrage gestützt durch Produktion (2026)
- Abhängigkeitslogik: erst stabile Kosten- und Prozessbasis, dann Differenzierung, dann Wachstum
Prüferfrage: Warum überlappen die Phasen? / Antwortlinie: gewollt – Zeiträume sind Orientierungswerte, die Reihenfolge folgt einer Abhängigkeitslogik, nicht starren Grenzen.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1:15 min | kumuliert: 13:45
- Offen ansprechen: 3 Interviews à ca. 30 min, alle intern, Sales-Bias aus Taicang kann Machbarkeitsbewertung verzerren
- Für die Umsetzung zentrale Funktionen und weitere Standorte fehlen → Ausweitung als Folgeschritt
- Benchmark beruht auf Vergleichsannahmen und Verdichtungen; vor Umsetzung standortspezifische, zahlenbasierte Präzisierung nötig
- Acceptability und Feasibility hängen von Budget, Führungsentscheidungen und Veränderungsbereitschaft ab
Prüferfrage: Wie stark hängt das Ergebnis am Benchmark? / Antwortlinie: extern plausibilisiert (IW +22 %, Infront 2026) und intern über Interviews gespiegelt; Unterlegung mit internen Ist-Daten ist Folgeschritt.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1:00 min | kumuliert: 14:45
- Kernsatz vorlesen: Industrialisierung und wirtschaftliche Skalierung vorhandener Kompetenzen statt Neupositionierung
- Wertvolle Ressourcen werden nicht ausreichend in wiederholbare, kosteneffiziente, skalierbare Marktleistungen überführt
- Piloten: (a) Design-to-Cost in wiederkehrendem Anlagenbereich, (b) standardisierter Projekt-Performance-Review, (c) Service-Pilot mit bestehendem Key Account
- Erfolgsmessung: Kostenabweichung, Wiederverwendungsgrad, Angebotsdurchlaufzeit, Nacharbeitsquote, Serviceumsatz, Kundenzufriedenheit
- Folgeschritte: Interviews ausweiten (Einkauf, Fertigung, Service, Controlling, weitere Standorte), Business Cases je Initiative, Benchmark mit internen Ist-Daten unterlegen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Ende des Vortrags – Übergang in die Fragerunde. Backup-Folien B1–B18 über den Backup-Index (Folie 16) ansteuern.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1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Lennart Kleemann | Projektarbeit 2 | DHBW Mannheim | Vertraulich – Sperrvermerk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Schaeffler-Logo, offizielle Datei]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1828800"/>
            <a:ext cx="180137" cy="251460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05432" y="795528"/>
            <a:ext cx="5486263" cy="570219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8" name="Text 6"/>
          <p:cNvSpPr/>
          <p:nvPr>
            <p:ph idx="106" type="body" hasCustomPrompt="1"/>
          </p:nvPr>
        </p:nvSpPr>
        <p:spPr>
          <a:xfrm>
            <a:off x="540410" y="1371600"/>
            <a:ext cx="5943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9" name="Text 6"/>
          <p:cNvSpPr/>
          <p:nvPr>
            <p:ph idx="107" type="title" hasCustomPrompt="1"/>
          </p:nvPr>
        </p:nvSpPr>
        <p:spPr>
          <a:xfrm>
            <a:off x="540410" y="1828800"/>
            <a:ext cx="59893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10" name="Text 6"/>
          <p:cNvSpPr/>
          <p:nvPr>
            <p:ph idx="108" type="body" hasCustomPrompt="1"/>
          </p:nvPr>
        </p:nvSpPr>
        <p:spPr>
          <a:xfrm>
            <a:off x="540410" y="3931920"/>
            <a:ext cx="5943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11" name="Text 6"/>
          <p:cNvSpPr/>
          <p:nvPr>
            <p:ph idx="109" type="body" hasCustomPrompt="1"/>
          </p:nvPr>
        </p:nvSpPr>
        <p:spPr>
          <a:xfrm>
            <a:off x="540410" y="4572000"/>
            <a:ext cx="60350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2 Inhalt 1 Kach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Lennart Kleemann | Projektarbeit 2 | DHBW Mannheim | Vertraulich – Sperrvermerk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Schaeffler-Logo, offizielle Datei]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804672"/>
            <a:ext cx="180137" cy="116128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9" name="Shape 5"/>
          <p:cNvSpPr/>
          <p:nvPr/>
        </p:nvSpPr>
        <p:spPr>
          <a:xfrm>
            <a:off x="540410" y="2103120"/>
            <a:ext cx="11110874" cy="417880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Text 6"/>
          <p:cNvSpPr/>
          <p:nvPr>
            <p:ph idx="108" type="body" hasCustomPrompt="1"/>
          </p:nvPr>
        </p:nvSpPr>
        <p:spPr>
          <a:xfrm>
            <a:off x="756209" y="2318918"/>
            <a:ext cx="10679278" cy="3747211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3 Zwei Kachel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Lennart Kleemann | Projektarbeit 2 | DHBW Mannheim | Vertraulich – Sperrvermerk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Schaeffler-Logo, offizielle Datei]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804672"/>
            <a:ext cx="180137" cy="116128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9" name="Shape 5"/>
          <p:cNvSpPr/>
          <p:nvPr/>
        </p:nvSpPr>
        <p:spPr>
          <a:xfrm>
            <a:off x="540410" y="2103120"/>
            <a:ext cx="5501488" cy="417880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49797" y="2103120"/>
            <a:ext cx="5501488" cy="417880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1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12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4 Kennzahl und Diagram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Lennart Kleemann | Projektarbeit 2 | DHBW Mannheim | Vertraulich – Sperrvermerk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Schaeffler-Logo, offizielle Datei]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804672"/>
            <a:ext cx="180137" cy="116128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9" name="Shape 5"/>
          <p:cNvSpPr/>
          <p:nvPr/>
        </p:nvSpPr>
        <p:spPr>
          <a:xfrm>
            <a:off x="540410" y="2103120"/>
            <a:ext cx="3017520" cy="417880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665830" y="2103120"/>
            <a:ext cx="7985455" cy="260604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665830" y="4817059"/>
            <a:ext cx="7985455" cy="1464869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5 Zitat-Kach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Lennart Kleemann | Projektarbeit 2 | DHBW Mannheim | Vertraulich – Sperrvermerk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Schaeffler-Logo, offizielle Datei]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804672"/>
            <a:ext cx="180137" cy="116128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9" name="Shape 5"/>
          <p:cNvSpPr/>
          <p:nvPr/>
        </p:nvSpPr>
        <p:spPr>
          <a:xfrm>
            <a:off x="540410" y="2103120"/>
            <a:ext cx="11110874" cy="205740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0410" y="4268419"/>
            <a:ext cx="3631692" cy="2013509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280002" y="4268419"/>
            <a:ext cx="3631692" cy="2013509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019593" y="4268419"/>
            <a:ext cx="3631692" cy="2013509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0410" y="2103120"/>
            <a:ext cx="107899" cy="205740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6 Prozes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Lennart Kleemann | Projektarbeit 2 | DHBW Mannheim | Vertraulich – Sperrvermerk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Schaeffler-Logo, offizielle Datei]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804672"/>
            <a:ext cx="180137" cy="116128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9" name="Shape 5"/>
          <p:cNvSpPr/>
          <p:nvPr/>
        </p:nvSpPr>
        <p:spPr>
          <a:xfrm>
            <a:off x="540410" y="2103120"/>
            <a:ext cx="5501488" cy="86868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49797" y="2103120"/>
            <a:ext cx="3631692" cy="86868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889388" y="2103120"/>
            <a:ext cx="1761896" cy="86868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0410" y="4114800"/>
            <a:ext cx="11110874" cy="216712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7 Tabel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Lennart Kleemann | Projektarbeit 2 | DHBW Mannheim | Vertraulich – Sperrvermerk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Schaeffler-Logo, offizielle Datei]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804672"/>
            <a:ext cx="180137" cy="116128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8 Roadma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Lennart Kleemann | Projektarbeit 2 | DHBW Mannheim | Vertraulich – Sperrvermerk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Schaeffler-Logo, offizielle Datei]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804672"/>
            <a:ext cx="180137" cy="116128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9" name="Shape 5"/>
          <p:cNvSpPr/>
          <p:nvPr/>
        </p:nvSpPr>
        <p:spPr>
          <a:xfrm>
            <a:off x="540410" y="3584448"/>
            <a:ext cx="3631692" cy="269748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80002" y="3584448"/>
            <a:ext cx="3631692" cy="269748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19593" y="3584448"/>
            <a:ext cx="3631692" cy="269748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9 Drei Kachel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Lennart Kleemann | Projektarbeit 2 | DHBW Mannheim | Vertraulich – Sperrvermerk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Schaeffler-Logo, offizielle Datei]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804672"/>
            <a:ext cx="180137" cy="116128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9" name="Shape 5"/>
          <p:cNvSpPr/>
          <p:nvPr/>
        </p:nvSpPr>
        <p:spPr>
          <a:xfrm>
            <a:off x="540410" y="2103120"/>
            <a:ext cx="11110874" cy="100584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0410" y="3216859"/>
            <a:ext cx="3631692" cy="3065069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280002" y="3216859"/>
            <a:ext cx="3631692" cy="3065069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019593" y="3216859"/>
            <a:ext cx="3631692" cy="3065069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0410" y="2103120"/>
            <a:ext cx="107899" cy="100584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10 Schlus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Lennart Kleemann | Projektarbeit 2 | DHBW Mannheim | Vertraulich – Sperrvermerk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Schaeffler-Logo, offizielle Datei]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2514600"/>
            <a:ext cx="180137" cy="160020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title" hasCustomPrompt="1"/>
          </p:nvPr>
        </p:nvSpPr>
        <p:spPr>
          <a:xfrm>
            <a:off x="540410" y="2514600"/>
            <a:ext cx="1111087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8" name="Text 5"/>
          <p:cNvSpPr/>
          <p:nvPr>
            <p:ph idx="106" type="body" hasCustomPrompt="1"/>
          </p:nvPr>
        </p:nvSpPr>
        <p:spPr>
          <a:xfrm>
            <a:off x="540410" y="3611880"/>
            <a:ext cx="11110874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18.xml"/><Relationship Id="rId3" Type="http://schemas.openxmlformats.org/officeDocument/2006/relationships/slide" Target="slide19.xml"/><Relationship Id="rId4" Type="http://schemas.openxmlformats.org/officeDocument/2006/relationships/slide" Target="slide20.xml"/><Relationship Id="rId5" Type="http://schemas.openxmlformats.org/officeDocument/2006/relationships/slide" Target="slide21.xml"/><Relationship Id="rId6" Type="http://schemas.openxmlformats.org/officeDocument/2006/relationships/slide" Target="slide22.xml"/><Relationship Id="rId7" Type="http://schemas.openxmlformats.org/officeDocument/2006/relationships/slide" Target="slide23.xml"/><Relationship Id="rId8" Type="http://schemas.openxmlformats.org/officeDocument/2006/relationships/slide" Target="slide24.xml"/><Relationship Id="rId9" Type="http://schemas.openxmlformats.org/officeDocument/2006/relationships/slide" Target="slide25.xml"/><Relationship Id="rId10" Type="http://schemas.openxmlformats.org/officeDocument/2006/relationships/slide" Target="slide26.xml"/><Relationship Id="rId11" Type="http://schemas.openxmlformats.org/officeDocument/2006/relationships/slide" Target="slide27.xml"/><Relationship Id="rId12" Type="http://schemas.openxmlformats.org/officeDocument/2006/relationships/slide" Target="slide28.xml"/><Relationship Id="rId13" Type="http://schemas.openxmlformats.org/officeDocument/2006/relationships/slide" Target="slide29.xml"/><Relationship Id="rId14" Type="http://schemas.openxmlformats.org/officeDocument/2006/relationships/slide" Target="slide30.xml"/><Relationship Id="rId15" Type="http://schemas.openxmlformats.org/officeDocument/2006/relationships/slide" Target="slide31.xml"/><Relationship Id="rId16" Type="http://schemas.openxmlformats.org/officeDocument/2006/relationships/slide" Target="slide33.xml"/><Relationship Id="rId17" Type="http://schemas.openxmlformats.org/officeDocument/2006/relationships/slide" Target="slide34.xml"/><Relationship Id="rId18" Type="http://schemas.openxmlformats.org/officeDocument/2006/relationships/slide" Target="slide35.xml"/><Relationship Id="rId19" Type="http://schemas.openxmlformats.org/officeDocument/2006/relationships/slideLayout" Target="../slideLayouts/slideLayout3.xml"/><Relationship Id="rId2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body" hasCustomPrompt="1"/>
          </p:nvPr>
        </p:nvSpPr>
        <p:spPr>
          <a:xfrm>
            <a:off x="540410" y="13716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PROJEKTARBEIT 2 | DHBW MANNHEIM</a:t>
            </a:r>
            <a:endParaRPr lang="en-US" sz="1600" dirty="0"/>
          </a:p>
        </p:txBody>
      </p:sp>
      <p:sp>
        <p:nvSpPr>
          <p:cNvPr id="3" name="Text 6"/>
          <p:cNvSpPr/>
          <p:nvPr>
            <p:ph idx="107" type="title" hasCustomPrompt="1"/>
          </p:nvPr>
        </p:nvSpPr>
        <p:spPr>
          <a:xfrm>
            <a:off x="540410" y="1828800"/>
            <a:ext cx="5989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STRATEGIE- UND MASSNAHMEN­ENTWICKLUNG FÜR DEN SCHAEFFLER SONDER­MASCHINENBAU</a:t>
            </a:r>
            <a:endParaRPr lang="en-US" sz="3200" dirty="0"/>
          </a:p>
        </p:txBody>
      </p:sp>
      <p:sp>
        <p:nvSpPr>
          <p:cNvPr id="4" name="Text 6"/>
          <p:cNvSpPr/>
          <p:nvPr>
            <p:ph idx="108" type="body" hasCustomPrompt="1"/>
          </p:nvPr>
        </p:nvSpPr>
        <p:spPr>
          <a:xfrm>
            <a:off x="540410" y="39319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basierend auf einem externen Benchmark</a:t>
            </a:r>
            <a:endParaRPr lang="en-US" sz="2000" dirty="0"/>
          </a:p>
        </p:txBody>
      </p:sp>
      <p:sp>
        <p:nvSpPr>
          <p:cNvPr id="5" name="Text 6"/>
          <p:cNvSpPr/>
          <p:nvPr>
            <p:ph idx="109" type="body" hasCustomPrompt="1"/>
          </p:nvPr>
        </p:nvSpPr>
        <p:spPr>
          <a:xfrm>
            <a:off x="540410" y="457200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Lennart Kleemann | WWI24SCA | [PLATZHALTER: Prüfungsdatum]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Schaeffler Technologies AG &amp; Co. KG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DHBW-Logo, einfarbig grau, optional]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Vertraulich – Sperrvermerk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254072" y="3017520"/>
            <a:ext cx="438898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Foto Sondermaschine/Anlage aus der Schaeffler-Mediendatenbank]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AGENDA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56209" y="2318918"/>
            <a:ext cx="384048" cy="38404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6209" y="23189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3137" y="2318918"/>
            <a:ext cx="100135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Ausgangssituation</a:t>
            </a: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  Der SMB und sein Marktumfeld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6209" y="2849270"/>
            <a:ext cx="384048" cy="38404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6209" y="284927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3137" y="2849270"/>
            <a:ext cx="100135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Problemstellung</a:t>
            </a: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  Verlustaufträge, Kostenposition, Forschungsfrage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56209" y="3379622"/>
            <a:ext cx="384048" cy="38404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6209" y="337962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23137" y="3379622"/>
            <a:ext cx="100135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Methodik</a:t>
            </a: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  Analysepfad von VRIO bis Roadmap, Datenbasis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56209" y="3909974"/>
            <a:ext cx="384048" cy="38404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6209" y="39099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323137" y="3909974"/>
            <a:ext cx="100135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Ergebnisse</a:t>
            </a: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  VRIO, GAP-Analyse, strategische Optionen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56209" y="4440326"/>
            <a:ext cx="384048" cy="38404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6209" y="444032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23137" y="4440326"/>
            <a:ext cx="100135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Evaluation und Umsetzung</a:t>
            </a: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  SAF-Bewertung und dreiphasige Roadmap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56209" y="4970678"/>
            <a:ext cx="384048" cy="38404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6209" y="497067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323137" y="4970678"/>
            <a:ext cx="100135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Kritische Reflexion</a:t>
            </a: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  Limitationen und Umgang damit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56209" y="5501030"/>
            <a:ext cx="384048" cy="38404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6209" y="5501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7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23137" y="5501030"/>
            <a:ext cx="100135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Fazit und Ausblick</a:t>
            </a: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  Antwort auf die Forschungsfrage, nächste Schritte</a:t>
            </a:r>
            <a:endParaRPr lang="en-US" sz="1600" dirty="0"/>
          </a:p>
        </p:txBody>
      </p:sp>
      <p:sp>
        <p:nvSpPr>
          <p:cNvPr id="26" name="Text 6"/>
          <p:cNvSpPr/>
          <p:nvPr>
            <p:ph idx="108" type="body" hasCustomPrompt="1"/>
          </p:nvPr>
        </p:nvSpPr>
        <p:spPr>
          <a:xfrm>
            <a:off x="756209" y="2318918"/>
            <a:ext cx="10679278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 | AUSGANGSSITUATION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Der SMB verbindet starke Technik mit einem schwierigen Marktumfeld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7188" y="2264054"/>
            <a:ext cx="438912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DER SMB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Anbieter komplexer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Automatisierungs- und Fertigungslösungen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in der Schaeffler-Gruppe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Von Entwicklung bis Inbetriebnahme von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Sondermaschinen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Bedient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konzerninterne Anforderungen und externes Geschäft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Globale Standorte, u. a.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Taicang, Erlangen, Cheraw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Internes Geschäft zu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ca. 70–80 % Automotive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Stärken: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Anlagenbau-Erfahrung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technisches Know-how</a:t>
            </a:r>
            <a:endParaRPr lang="en-US" sz="1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6574" y="2264054"/>
            <a:ext cx="438912" cy="43891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MARKTUMFELD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Zunehmender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Kostendruck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Schwächen v. a. in der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Kostenstruktur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Chinesische Wettbewerber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mit deutlich niedrigerer Kostenbasis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Technik allein entscheidet nicht mehr über Wettbewerbsfähigkeit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Ebenso relevant: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Standardisierung, Projektsteuerung, Service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Fokus: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effizient, wiederholbar, wirtschaftlich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Daher: Innen- und Außensicht verbinden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(2026), basierend auf Roland-Berger-Benchmark (2026) und Experteninterviews (2026); Baden-Fuller (1995), S. 3 f.</a:t>
            </a:r>
            <a:endParaRPr lang="en-US" sz="1000" dirty="0"/>
          </a:p>
        </p:txBody>
      </p:sp>
      <p:sp>
        <p:nvSpPr>
          <p:cNvPr id="10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1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 | PROBLEMSTELLUNG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Der SMB verliert Aufträge über Kosten, nicht über Technologie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514600"/>
            <a:ext cx="258592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78,8 %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756209" y="3657600"/>
            <a:ext cx="258592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des verlorenen Auftragsvolumens (</a:t>
            </a:r>
            <a:r>
              <a:rPr lang="en-US" sz="20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482 von 612 Mio. EUR</a:t>
            </a:r>
            <a:r>
              <a:rPr lang="en-US" sz="2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 wegen </a:t>
            </a:r>
            <a:r>
              <a:rPr lang="en-US" sz="20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zu hoher Kosten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Zeitraum 01/2024–06/2026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881628" y="2249424"/>
            <a:ext cx="7553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GRÜNDE FÜR AUFTRAGSVERLUST (ANTEIL AM VOLUMEN)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757270" y="2560320"/>
          <a:ext cx="7756855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3881628" y="4926787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KOSTENINDEX (SMB = 100)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881628" y="5274259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Schaeffler SMB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9030" y="5292547"/>
            <a:ext cx="3916375" cy="219456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16845" y="5274259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100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881628" y="5585155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Westliche Wettbewerber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409030" y="5603443"/>
            <a:ext cx="3524738" cy="219456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933767" y="5603443"/>
            <a:ext cx="195819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10221026" y="558515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ca. 90–95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881628" y="5896051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Chinesische Wettbewerber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409030" y="5914339"/>
            <a:ext cx="2154006" cy="219456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63036" y="5914339"/>
            <a:ext cx="391638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9046113" y="5896051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ca. 55–65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Roland-Berger-Benchmark (2026), vertraulich; Verlustauftragsanalyse 01/2024–06/2026; gestrichelt = Spanne laut Benchmark | Vertraulich – Sperrvermerk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 | PROBLEMSTELLUNG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Forschungsfrage und Zielsetzung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4108" y="2286000"/>
            <a:ext cx="1057137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FORSCHUNGSFRAGE</a:t>
            </a:r>
            <a:endParaRPr lang="en-US" sz="1600" dirty="0"/>
          </a:p>
          <a:p>
            <a:pPr indent="0" marL="0">
              <a:buNone/>
            </a:pP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„Welche strategischen Handlungsfelder lassen sich für den Sondermaschinenbau aus dem Abgleich des internen Ressourcenprofils mit dem externen Markt- und Wettbewerbsprofil des Roland-Berger-Benchmarks im Rahmen einer GAP-Analyse identifizieren, und welche strategischen Initiativen lassen sich daraus unter Anwendung des SAF-Frameworks ableiten und priorisieren?“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6209" y="4484218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6209" y="448421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59129" y="4484218"/>
            <a:ext cx="2697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IDENTIFIZIEREN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56209" y="5032858"/>
            <a:ext cx="2971495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Strategische </a:t>
            </a: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Handlungsfelder</a:t>
            </a: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aus der GAP-Analyse (Ist vs. Soll)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879494" y="5046574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›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495800" y="4484218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95800" y="448421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998720" y="4484218"/>
            <a:ext cx="2697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ABLEITEN UND PRIORISIEREN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495800" y="5032858"/>
            <a:ext cx="2971495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Strategische </a:t>
            </a: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Initiativen</a:t>
            </a: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ableiten und mit dem </a:t>
            </a: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SAF-Framework</a:t>
            </a: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bewerten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619086" y="5046574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›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235391" y="4484218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35391" y="448421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738311" y="4484218"/>
            <a:ext cx="2697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UMSETZEN (ROADMAP)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35391" y="5032858"/>
            <a:ext cx="2971495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Erste </a:t>
            </a: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Umsetzungslogik</a:t>
            </a:r>
            <a:r>
              <a:rPr lang="en-US" sz="18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mit Verantwortlichkeiten und KPIs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 | METHODIK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Ein mehrstufiger Analysepfad verbindet Innen- und Außensicht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77570" y="2176272"/>
            <a:ext cx="522716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STRATEGIC POSITION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Kapitel 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286957" y="2176272"/>
            <a:ext cx="335737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STRATEGIC CHOICES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Kapitel 4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26548" y="2176272"/>
            <a:ext cx="148757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STRATEGY IN ACTION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Kapitel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0410" y="3108960"/>
            <a:ext cx="1851508" cy="868680"/>
          </a:xfrm>
          <a:prstGeom prst="homePlate">
            <a:avLst/>
          </a:prstGeom>
          <a:solidFill>
            <a:srgbClr val="EFEFEF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1850" y="3108960"/>
            <a:ext cx="13028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VRIO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(Ist)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10206" y="3108960"/>
            <a:ext cx="1851508" cy="868680"/>
          </a:xfrm>
          <a:prstGeom prst="chevron">
            <a:avLst/>
          </a:prstGeom>
          <a:solidFill>
            <a:srgbClr val="EFEFEF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21102" y="3108960"/>
            <a:ext cx="13028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Benchmark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(Soll)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80002" y="3108960"/>
            <a:ext cx="1851508" cy="868680"/>
          </a:xfrm>
          <a:prstGeom prst="chevron">
            <a:avLst/>
          </a:prstGeom>
          <a:solidFill>
            <a:srgbClr val="EFEFEF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898" y="3108960"/>
            <a:ext cx="13028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GAP-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Analyse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49797" y="3108960"/>
            <a:ext cx="1851508" cy="868680"/>
          </a:xfrm>
          <a:prstGeom prst="chevron">
            <a:avLst/>
          </a:prstGeom>
          <a:solidFill>
            <a:srgbClr val="EFEFEF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0693" y="3108960"/>
            <a:ext cx="13028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Clock +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Ansoff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19593" y="3108960"/>
            <a:ext cx="1851508" cy="868680"/>
          </a:xfrm>
          <a:prstGeom prst="chevron">
            <a:avLst/>
          </a:prstGeom>
          <a:solidFill>
            <a:srgbClr val="EFEFEF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30489" y="3108960"/>
            <a:ext cx="13028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SAF-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Bewertung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889388" y="3108960"/>
            <a:ext cx="1851508" cy="868680"/>
          </a:xfrm>
          <a:prstGeom prst="chevron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00284" y="3108960"/>
            <a:ext cx="13028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Roadmap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56209" y="4330598"/>
            <a:ext cx="5248199" cy="1735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DATENBASIS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Roland-Berger-Benchmark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(2026, extern)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 Experteninterviews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(eigen), Juli 2026, je ca. 30 min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Taicang, Europa, Cheraw; teilstrukturiert, deduktiv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187288" y="4330598"/>
            <a:ext cx="5248199" cy="1735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EIGENLEISTUNG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Auswahl und Kombination des Bezugsrahmens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Leitfaden, Durchführung, Auswertung der Interviews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VRIO, GAP, 5 Optionen, SAF-Bewertung, Roadmap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 nach Whittington et al. (2020), S. 11 f.; Barney (1991, 1995); Kim &amp; Ji (2018); Nagel &amp; Meuser (2009). Interviews dienen der Validierung, nicht der Repräsentativität.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4 | ERGEBNISSE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Die Ressourcen sind wertvoll, aber organisatorisch nicht ausgeschöpft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057400"/>
          <a:ext cx="11110874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1188720"/>
                <a:gridCol w="1463040"/>
                <a:gridCol w="1463040"/>
                <a:gridCol w="1417320"/>
                <a:gridCol w="2331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Dimension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Value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Rarity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Imitability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Organization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Klassifikation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Technologie- und Engineering-Kompetenz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Ja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Mittel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Teilweise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Temporärer Wettbewerbsvorteil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Kundenbeziehungen und Vertrieb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Ja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Niedrig–Mittel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Mittel–Hoch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nein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Gemischt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Preis- und Kostenstruktur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n/a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Wettbewerbsnachteil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Servicequalität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Ja, Potenzial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n.b.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n.b.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nein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Nachteil mit Potenzial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Globales Netzwerk und regionale Präsenz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Ja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Mittel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Mittel–Hoch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nein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Ungenutztes Potenzial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Finanzielle Stabilität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Ja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Ja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Nachhaltiger Wettbewerbsvorteil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Mitarbeiter- und Kompetenzstruktur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Ja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Niedrig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nein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Wettbewerbsnachteil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(2026), basierend auf Roland-Berger-Benchmark (2026) und Experteninterviews (2026); VRIO nach Barney (1991, 1995); qualitative Einstufung, Regeln siehe B3.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4 | ERGEBNISSE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Die GAP-Analyse zeigt eine Industrialisierungs-, keine Technologielücke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5002" y="2057400"/>
          <a:ext cx="1094628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743200"/>
                <a:gridCol w="2971800"/>
                <a:gridCol w="253380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Handlungsfeld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Ist (intern, VRIO)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Soll (extern, Benchmark)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Gap-Relevanz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Kosten- und Preiswettbewerb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Hohe Stundensätze, Kostenindex ca. 100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Wettbewerbsfähig (West ca. 90–95, China ca. 55–65)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Sehr hoch – 78,8 % der Verlustaufträge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Standardisierung und Modularität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Projektindividuell, geringe Wiederverwendung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Modulare Plattformen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 – strukturelle Ursache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Tendering und Projektsteuerung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Schwächen im Change-/Claim-Management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Belastbare Abwicklung, klare Eskalation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 – 10,7 % der Verlustaufträge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Service und Lifecycle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„Größtes Sorgenkind“, unstrukturiert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Strukturiertes Lifecycle-Angebot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Mittel–hoch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Technologie/Qualität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Stark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Erfüllt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Gering – Fit (positiver Befund)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0410" y="2432304"/>
            <a:ext cx="91440" cy="512064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0410" y="3035808"/>
            <a:ext cx="91440" cy="512064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0410" y="3639312"/>
            <a:ext cx="91440" cy="512064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0410" y="5413248"/>
            <a:ext cx="11110874" cy="86868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6209" y="5486400"/>
            <a:ext cx="106792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Priorisiert (grüne Markierung), wenn alle drei Bedingungen gelten: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(1) externe Anforderung besonders relevant · (2) interne Fähigkeit schwach · (3) direkte Wirkung auf Auftragserfolg, Marge oder Wettbewerbsfähigkeit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(2026), basierend auf Roland-Berger-Benchmark (2026) und Experteninterviews (2026); GAP-Analyse nach Kim &amp; Ji (2018), S. 1, 5 | Vertraulich – Sperrvermerk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4 | ERGEBNISSE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Fünf Optionen bewegen den SMB von der Risiko- in eine Hybridposition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STRATEGY CLOCK (VEREINFACHT)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17650" y="5760720"/>
            <a:ext cx="4343400" cy="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317650" y="2788920"/>
            <a:ext cx="0" cy="297180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  <a:headEnd type="triangle"/>
          </a:ln>
        </p:spPr>
      </p:sp>
      <p:sp>
        <p:nvSpPr>
          <p:cNvPr id="7" name="Text 5"/>
          <p:cNvSpPr txBox="1"/>
          <p:nvPr/>
        </p:nvSpPr>
        <p:spPr>
          <a:xfrm>
            <a:off x="4563770" y="57972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Preis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31850" y="2788920"/>
            <a:ext cx="38404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Kundennutzen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844698" y="3712464"/>
            <a:ext cx="1810512" cy="708660"/>
          </a:xfrm>
          <a:prstGeom prst="line">
            <a:avLst/>
          </a:prstGeom>
          <a:noFill/>
          <a:ln w="31750">
            <a:solidFill>
              <a:srgbClr val="00893D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 flipV="1">
            <a:off x="2853842" y="3232404"/>
            <a:ext cx="2009394" cy="361188"/>
          </a:xfrm>
          <a:prstGeom prst="line">
            <a:avLst/>
          </a:prstGeom>
          <a:noFill/>
          <a:ln w="31750">
            <a:solidFill>
              <a:srgbClr val="00893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700930" y="4421124"/>
            <a:ext cx="182880" cy="182880"/>
          </a:xfrm>
          <a:prstGeom prst="ellipse">
            <a:avLst/>
          </a:prstGeom>
          <a:solidFill>
            <a:srgbClr val="646464"/>
          </a:solidFill>
          <a:ln w="15875">
            <a:solidFill>
              <a:srgbClr val="64646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16098" y="3529584"/>
            <a:ext cx="182880" cy="182880"/>
          </a:xfrm>
          <a:prstGeom prst="ellipse">
            <a:avLst/>
          </a:prstGeom>
          <a:solidFill>
            <a:srgbClr val="00893D"/>
          </a:solidFill>
          <a:ln w="15875">
            <a:solidFill>
              <a:srgbClr val="0089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18100" y="3113532"/>
            <a:ext cx="182880" cy="182880"/>
          </a:xfrm>
          <a:prstGeom prst="ellipse">
            <a:avLst/>
          </a:prstGeom>
          <a:solidFill>
            <a:srgbClr val="00893D"/>
          </a:solidFill>
          <a:ln w="15875">
            <a:solidFill>
              <a:srgbClr val="0089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73682" y="5193792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4646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55010" y="46588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Heute: Risikoposition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hoher Preis, Ø-Nutzen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44498" y="34838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Ziel: Hybrid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2494940" y="263804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Langfristig: fokussierte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Differenzierung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829714" y="5148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Kostenführerschaft ausgeschlossen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365596" y="2318918"/>
            <a:ext cx="50698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FÜNF STRATEGISCHE OPTIONEN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365596" y="2889504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65596" y="2889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877660" y="2852928"/>
            <a:ext cx="45578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Kostenoptimierung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Voraussetzung · Herleitung: Clock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65596" y="3557016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65596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877660" y="3520440"/>
            <a:ext cx="45578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Modularität und Design-to-Cost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Wirtschaftlichere Differenzierung · Clock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65596" y="4224528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65596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77660" y="4187952"/>
            <a:ext cx="45578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Tendering und Projektsteuerung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Operative Absicherung · direkt aus GAP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65596" y="4892040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65596" y="4892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877660" y="4855464"/>
            <a:ext cx="45578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Service und Lifecycle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Differenzierung im Lebenszyklus · Clock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65596" y="5559552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65596" y="5559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877660" y="5522976"/>
            <a:ext cx="45578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Selektive Diversifikation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Gezieltes Wachstum · Ansoff + Clock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(2026), Strategy Clock und Ansoff-Matrix nach Whittington et al. (2020), S. 244–248; Benchmark-Fazit: „not to chase Chinese players' cost structures“.</a:t>
            </a:r>
            <a:endParaRPr lang="en-US" sz="1000" dirty="0"/>
          </a:p>
        </p:txBody>
      </p:sp>
      <p:sp>
        <p:nvSpPr>
          <p:cNvPr id="37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38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5 | EVALUATION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Die SAF-Bewertung priorisiert Kosten und Projektsteuerung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057400"/>
          <a:ext cx="11110874" cy="914400"/>
        </p:xfrm>
        <a:graphic>
          <a:graphicData uri="http://schemas.openxmlformats.org/drawingml/2006/table">
            <a:tbl>
              <a:tblPr/>
              <a:tblGrid>
                <a:gridCol w="3520440"/>
                <a:gridCol w="1463040"/>
                <a:gridCol w="1645920"/>
                <a:gridCol w="2194560"/>
                <a:gridCol w="22860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Option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Suitability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Acceptability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Feasibility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Priorität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1. Kostenoptimierung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mittel–hoch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 – kurzfristig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2. Modularität und Design-to-Cost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mittel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mittel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 – mittelfristig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3. Tendering und Projektsteuerung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mittel–hoch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 – kurzfristig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4. Service und Lifecycle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mittel–hoch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mittel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Mittel – mittelfristig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5. Selektive Diversifikation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mittel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kurzfristig gering, langfristig 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Mittel – langfristig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0410" y="5257800"/>
            <a:ext cx="3631692" cy="100584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05002" y="5422392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05002" y="5422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98778" y="5385816"/>
            <a:ext cx="28087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Kosten- und Ausführungslücke schließen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größter Hebel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80002" y="5257800"/>
            <a:ext cx="3631692" cy="100584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44594" y="5422392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44594" y="5422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938370" y="5385816"/>
            <a:ext cx="28087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Differenzierungsfähigkeit aufbauen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Modularität, Service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19593" y="5257800"/>
            <a:ext cx="3631692" cy="100584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184185" y="5422392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4185" y="5422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677961" y="5385816"/>
            <a:ext cx="28087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Wachstum erschließen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selektive Diversifikation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(2026); SAF nach Whittington et al. (2020), S. 375, 380, 385, 399. Qualitative Bewertung, bewusst kein gewichtetes Scoring (Scheingenauigkeit). Begründungen siehe B12.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5 | EVALUATION UND UMSETZUNG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Eine dreiphasige Roadmap folgt einer Abhängigkeitslogik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410" y="2103120"/>
            <a:ext cx="11110874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13562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 M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2945511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6 M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59750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12 M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49488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18 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01477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24 M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31850" y="2788920"/>
            <a:ext cx="2633701" cy="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1850" y="2679192"/>
            <a:ext cx="0" cy="219456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65551" y="2679192"/>
            <a:ext cx="0" cy="219456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5002" y="2651760"/>
            <a:ext cx="9144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Phase 1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265551" y="3118104"/>
            <a:ext cx="5303977" cy="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65551" y="3008376"/>
            <a:ext cx="0" cy="219456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69528" y="3008376"/>
            <a:ext cx="0" cy="219456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38703" y="2980944"/>
            <a:ext cx="9144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Phase 2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917540" y="3447288"/>
            <a:ext cx="5303977" cy="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17540" y="3337560"/>
            <a:ext cx="0" cy="219456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221517" y="3337560"/>
            <a:ext cx="0" cy="219456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990692" y="3310128"/>
            <a:ext cx="9144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Phase 3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23290" y="3721608"/>
            <a:ext cx="33116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PHASE 1 | 0–6 M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Kostenbasis und Projektgovernance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Design-to-Cost-Reviews im Angebot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Einheitliches Projektstatusformat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Verantwortlich: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Engineering, Einkauf, PM, Controlling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KPI: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Kalkulationsabweichung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462882" y="3721608"/>
            <a:ext cx="33116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PHASE 2 | 6–18 M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Modularität, DFM und Service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Modul-Pilot mit Wiederholbaugruppen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Standardisierte Servicepakete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Verantwortlich: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Engineering, Operations, Service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KPI: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Wiederverwendungsgrad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8202473" y="3721608"/>
            <a:ext cx="33116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PHASE 3 | 12–24 M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Selektive Diversifikation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Ansatz je Vertical: Medtech, Elektrifizierung, Netze, Rechenzentren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Verantwortlich: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Business Development, Sales, Top-Management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KPI: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Neue Referenzprojekte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(2026). Zeiträume sind grobe Orientierungswerte (daher Überlappung); vollständige Maßnahmen und KPIs siehe B13.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6 | KRITISCHE REFLEXION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Die Ergebnisse sind eine fundierte Ersteinschätzung mit klaren Grenzen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7188" y="2264054"/>
            <a:ext cx="438912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LIMITATIONEN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Interviews: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nur 3, Taicang vor allem Sales-nahe Sicht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Abdeckung: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Einkauf, Fertigung, Service, Controlling nicht befragt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Benchmark: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„outside-in and directional“, nicht alleinige Basis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SAF: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ohne Business Cases keine Investitionsentscheidung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Ergebnis: Ersteinschätzung, keine organisationsweite Validierung</a:t>
            </a:r>
            <a:endParaRPr lang="en-US" sz="1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6574" y="2264054"/>
            <a:ext cx="438912" cy="43891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WIE ADRESSIERT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VRIO extern gegengeprüft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mit Benchmark und Interviews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Interviews nur zur Plausibilisierung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Basis ist der Benchmark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Externe Belege: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IW-Lohnstückkosten (+22 %), Infront (2026)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Kein gewichtetes Scoring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Bewertungsregeln offengelegt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Pilotlogik statt Big Bang: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Wirkung vor Skalierung messen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(2026); Priem (2001), S. 26 ff.; Schröder (2025), S. 1; Infront Consulting (2026).</a:t>
            </a:r>
            <a:endParaRPr lang="en-US" sz="1000" dirty="0"/>
          </a:p>
        </p:txBody>
      </p:sp>
      <p:sp>
        <p:nvSpPr>
          <p:cNvPr id="10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1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7 | FAZIT UND AUSBLICK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Industrialisieren statt neu positionieren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4108" y="2176272"/>
            <a:ext cx="1057137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„Die Weiterentwicklung des SMB liegt nicht in einer grundlegenden Neupositionierung, sondern in der konsequenten Industrialisierung und wirtschaftlichen Skalierung vorhandener Kompetenzen.“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56209" y="3432658"/>
            <a:ext cx="3200095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ANTWORT AUF DIE FORSCHUNGSFRAGE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4 Handlungsfelder: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Kosten, Standardisierung, Projektsteuerung, Service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5 Initiativen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abgeleitet und SAF-bewertet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495800" y="3432658"/>
            <a:ext cx="3200095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PRIORISIERUNG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Kurzfristig: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Kosten, Projektsteuerung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Mittelfristig: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Modularität, Service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Langfristig: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selektive Diversifikation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35391" y="3432658"/>
            <a:ext cx="3200095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NÄCHSTE SCHRITTE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 Piloten: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Design-to-Cost, Performance-Review, Service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Validierung: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Interviews ausweiten, Business Cases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540410" y="2514600"/>
            <a:ext cx="111108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Text 5"/>
          <p:cNvSpPr/>
          <p:nvPr>
            <p:ph idx="106" type="body" hasCustomPrompt="1"/>
          </p:nvPr>
        </p:nvSpPr>
        <p:spPr>
          <a:xfrm>
            <a:off x="540410" y="3611880"/>
            <a:ext cx="111108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Fragen und Diskussion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540410" y="2514600"/>
            <a:ext cx="111108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</a:t>
            </a:r>
            <a:endParaRPr lang="en-US" sz="5400" dirty="0"/>
          </a:p>
        </p:txBody>
      </p:sp>
      <p:sp>
        <p:nvSpPr>
          <p:cNvPr id="3" name="Text 5"/>
          <p:cNvSpPr/>
          <p:nvPr>
            <p:ph idx="106" type="body" hasCustomPrompt="1"/>
          </p:nvPr>
        </p:nvSpPr>
        <p:spPr>
          <a:xfrm>
            <a:off x="540410" y="3611880"/>
            <a:ext cx="111108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Vertiefungen für die Fragerunde (B1–B18)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Backup-Index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26771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50569" y="2267712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" action="ppaction://hlinksldjump" tooltip="B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Theoretischer Bezugsrahmen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56209" y="268833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50569" y="2688336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2" action="ppaction://hlinksldjump" tooltip="B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RBV und VRIO inkl. Kritik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56209" y="31089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50569" y="3108960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3" action="ppaction://hlinksldjump" tooltip="B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VRIO-Bewertungslogik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56209" y="35295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50569" y="3529584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4" action="ppaction://hlinksldjump" tooltip="B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Interviewdesign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56209" y="395020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B5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50569" y="3950208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5" action="ppaction://hlinksldjump" tooltip="B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Interview-Kernaussagen je Standort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56209" y="437083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B6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50569" y="4370832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6" action="ppaction://hlinksldjump" tooltip="B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Benchmark: Kostenstruktur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56209" y="479145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B7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50569" y="4791456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7" action="ppaction://hlinksldjump" tooltip="B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Benchmark: Peer-Radar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56209" y="5212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B8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50569" y="5212080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8" action="ppaction://hlinksldjump" tooltip="B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Benchmark: Kundenerfolgsfaktoren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56209" y="563270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B9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50569" y="5632704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9" action="ppaction://hlinksldjump" tooltip="B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Verlustauftragsanalyse vollständig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11646" y="226771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B10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906006" y="2267712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0" action="ppaction://hlinksldjump" tooltip="B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Strategy Clock und Ansoff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311646" y="268833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B11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906006" y="2688336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1" action="ppaction://hlinksldjump" tooltip="B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Verworfene Alternativen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311646" y="31089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906006" y="3108960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2" action="ppaction://hlinksldjump" tooltip="B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SAF-Begründungen je Option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311646" y="35295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B13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906006" y="3529584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3" action="ppaction://hlinksldjump" tooltip="B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Roadmap: Maßnahmen und KPIs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311646" y="395020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906006" y="3950208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4" action="ppaction://hlinksldjump" tooltip="B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Marktsegmente und Regionen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311646" y="437083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906006" y="4370832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5" action="ppaction://hlinksldjump" tooltip="B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Quellenverzeichnis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311646" y="479145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B16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6906006" y="4791456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6" action="ppaction://hlinksldjump" tooltip="B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[PLATZHALTER: Thema]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311646" y="5212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B17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6906006" y="5212080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7" action="ppaction://hlinksldjump" tooltip="B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[PLATZHALTER: Thema]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311646" y="563270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B18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6906006" y="5632704"/>
            <a:ext cx="44581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8" action="ppaction://hlinksldjump" tooltip="B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[PLATZHALTER: Thema]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Klick auf den Titel springt zur jeweiligen Backup-Folie.</a:t>
            </a:r>
            <a:endParaRPr lang="en-US" sz="1000" dirty="0"/>
          </a:p>
        </p:txBody>
      </p:sp>
      <p:sp>
        <p:nvSpPr>
          <p:cNvPr id="41" name="Text 6"/>
          <p:cNvSpPr/>
          <p:nvPr>
            <p:ph idx="108" type="body" hasCustomPrompt="1"/>
          </p:nvPr>
        </p:nvSpPr>
        <p:spPr>
          <a:xfrm>
            <a:off x="756209" y="2318918"/>
            <a:ext cx="10679278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B1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 | Der Bezugsrahmen ist eine fallbezogene Auswahl aus Exploring Strategy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057400"/>
          <a:ext cx="11110874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5394960"/>
                <a:gridCol w="3383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Baustein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Funktion in der Arbeit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Quelle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Strategiebegriff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Langfristige Ausrichtung, nachhaltiger Vorteil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Whittington 2020, S. 4; Barney 1991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Exploring Strategy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Position (Kap. 3) → Choices (Kap. 4) → Action (Kap. 5)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Whittington 2020, S. 11 f.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RBV + VRIO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Raster für interne Ressourcen, Fokus Organization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Barney 1991; 1995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GAP-Analyse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Ist (VRIO) vs. Soll (Benchmark) → Maßnahmen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Kim &amp; Ji 2018, S. 1, 5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Strategy Clock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Positionierung: Preis vs. Kundennutzen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Whittington 2020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Ansoff-Matrix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Wachstumslogik, ergänzendes Instrument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Whittington 2020, S. 244–248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SAF-Framework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Bewertung: Suitability, Acceptability, Feasibility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Whittington 2020, S. 375 ff.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0410" y="5257800"/>
            <a:ext cx="11110874" cy="102412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56209" y="5349240"/>
            <a:ext cx="1067927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Warum nur ein Teil des Werkzeugkastens? 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Fallbezogene Auswahl entlang der für den SMB relevanten Entscheidungsdimensionen: Wettbewerbspositionierung, Wachstumsrichtung, Bewertbarkeit und Umsetzbarkeit.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 nach den angegebenen Quellen.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B2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B2 | VRIO konkretisiert den RBV; die Tautologie-Kritik wird extern abgefedert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RBV UND VRIO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RBV: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Ressourcenunterschiede erklären unterschiedlichen Erfolg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Value: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nutzt Chancen, reduziert Risiken, schafft Kundennutzen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Rarity: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Wettbewerber verfügen nicht vergleichbar darüber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Imitability: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nicht kurzfristig kopierbar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Organization: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Ressource kann wirksam eingesetzt werden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KRITIK UND ABFEDERUNG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Tautologie-Vorwurf: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Wert wird oft erst am beobachteten Erfolg abgelesen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Kriterium Value droht zirkulär zu werden (Priem, 2001)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Abfederung:</a:t>
            </a:r>
            <a:r>
              <a:rPr lang="en-US" sz="1600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VRIO-Bewertung in Kap. 3.5 </a:t>
            </a: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extern gegen Benchmark und Interviews gegengeprüft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Barney (1991), S. 100 ff.; Barney (1995); Barney, Ketchen &amp; Wright (2011), S. 1300; Priem (2001), S. 26 ff.</a:t>
            </a:r>
            <a:endParaRPr lang="en-US" sz="1000" dirty="0"/>
          </a:p>
        </p:txBody>
      </p:sp>
      <p:sp>
        <p:nvSpPr>
          <p:cNvPr id="7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B3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B3 | Die VRIO-Einstufung folgt offengelegten qualitativen Regeln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REGELN (KEINE METRISCHE SKALA)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Hoch: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Benchmark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und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mind. 2 von 3 Interviews übereinstimmend positiv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Mittel: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uneinheitlich oder nicht über alle Quellen bestätigt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Niedrig: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Benchmark und Interviews übereinstimmend schwach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SONDERFALL PREIS UND KOSTEN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Keine Ressource im VRIO-Sinne, sondern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Ergebnis der Organisation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der übrigen Ressourcen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Rarity und Imitability nicht anwendbar → „–“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Direkt als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Wettbewerbsnachteil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klassifiziert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(2026).</a:t>
            </a:r>
            <a:endParaRPr lang="en-US" sz="1000" dirty="0"/>
          </a:p>
        </p:txBody>
      </p:sp>
      <p:sp>
        <p:nvSpPr>
          <p:cNvPr id="7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B4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B4 | Drei teilstrukturierte Experteninterviews validieren die Benchmark-Befunde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DESIGN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Methode: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leitfadengestützt, teilstrukturiert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Rahmen: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3 Interviews, Juli 2026, MS Teams, je ca. 30 min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Befragte: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Taicang (Commercial Sales), Europa (External KAM), Cheraw (PMO)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Auswertung: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deduktiv entlang der Leitfadenkategorien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Zweck: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Validierung, keine Repräsentativität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LEITFADEN: 6 THEMENBLÖCKE</a:t>
            </a:r>
            <a:endParaRPr lang="en-US" sz="1600" dirty="0"/>
          </a:p>
          <a:p>
            <a:pPr marL="254000" indent="-2540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Geschäftsmodelle: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Hauptstärken je Geschäftsmodell?</a:t>
            </a:r>
            <a:endParaRPr lang="en-US" sz="1600" dirty="0"/>
          </a:p>
          <a:p>
            <a:pPr marL="254000" indent="-2540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Marktsegmente: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Stärken und Herausforderungen je Segment?</a:t>
            </a:r>
            <a:endParaRPr lang="en-US" sz="1600" dirty="0"/>
          </a:p>
          <a:p>
            <a:pPr marL="254000" indent="-2540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Regionale Märkte: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Europa und China?</a:t>
            </a:r>
            <a:endParaRPr lang="en-US" sz="1600" dirty="0"/>
          </a:p>
          <a:p>
            <a:pPr marL="254000" indent="-2540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Funktionsbereiche: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Stärken und Engpässe?</a:t>
            </a:r>
            <a:endParaRPr lang="en-US" sz="1600" dirty="0"/>
          </a:p>
          <a:p>
            <a:pPr marL="254000" indent="-2540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Aussicht: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Prioritäten, Quick Wins, falsche Wege?</a:t>
            </a:r>
            <a:endParaRPr lang="en-US" sz="1600" dirty="0"/>
          </a:p>
          <a:p>
            <a:pPr marL="254000" indent="-2540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Sonstiges: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freies Feedback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(2026); Nagel &amp; Meuser (2009), S. 470, 472 f.; vollständiger Leitfaden im Anhang der Arbeit.</a:t>
            </a:r>
            <a:endParaRPr lang="en-US" sz="1000" dirty="0"/>
          </a:p>
        </p:txBody>
      </p:sp>
      <p:sp>
        <p:nvSpPr>
          <p:cNvPr id="7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B5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B5 | Die Interviews bestätigen Kosten, Steuerung und Service als Kernthemen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0410" y="2103120"/>
            <a:ext cx="3631692" cy="417880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6209" y="2318918"/>
            <a:ext cx="3200095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TAICANG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Commercial Sales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Agilität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als Stärke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Medtech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stark, Automotive Durchschnitt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Projektmanagement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größte Schwäche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Standardisierung ausbauen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Marketing stärken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80002" y="2103120"/>
            <a:ext cx="3631692" cy="417880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95800" y="2318918"/>
            <a:ext cx="3200095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EUROPA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External Key Account Mgmt.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Kosten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Stundensätze, „Wasserkopf“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Service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= „Sorgenkind“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KAM unterbesetzt,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BD stärken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Siemens, Siemens Energy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Warnung vor Humanoid-Hype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019593" y="2103120"/>
            <a:ext cx="3631692" cy="417880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35391" y="2318918"/>
            <a:ext cx="3200095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CHERAW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PMO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Fragmentierte Steuerung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Ungenaue Zeitbuchung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Schwankende Auslastung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Fehlende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Lessons Learned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Single Source of Truth, DFM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Interviews Commercial Sales (Taicang), External Key Account Management (Europa), PMO (Cheraw), jeweils Juli 2026. Europa ergänzend: Energiewende/Datenzentren.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B6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B6 | Die größten Kostenhebel liegen bei Design, Material und Commissioning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057400"/>
          <a:ext cx="694944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417320"/>
                <a:gridCol w="1417320"/>
                <a:gridCol w="1417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Kostenblock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SMB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West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China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Material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45 %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40–45 %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20–30 %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Design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15 %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10–15 %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5–10 %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Commissioning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13 %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10–15 %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5–10 %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Montage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9 %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5–10 %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&lt; 5 %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Sekundärkosten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19 %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10–20 %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10–20 %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Gesamt (Kostenindex)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100 %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90–95 %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55–65 %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97750" y="2057400"/>
            <a:ext cx="4053535" cy="422452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3548" y="2240280"/>
            <a:ext cx="3621938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EINORDNUNG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Größte Hebel: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Design, Material, Commissioning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Ursachen: ineffiziente Ausführung, geringe Wiederverwendung, schwache Industrialisierung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Benchmark-Fazit: „not to chase Chinese players' cost structures“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Roland-Berger-Benchmark (2026), vertraulich; Anteile am Kostenindex (SMB = 100) | Vertraulich – Sperrvermerk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B7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B7 | Im Peer-Radar führt der SMB bei Technologie, liegt aber bei Industrialisierung zurück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BEFUND (QUALITATIV)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12 Dimensionen,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Skala 1–5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Führend bzw. anschlussfähig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bei Technologie und Qualität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Ca. 1–2 Punkte zurück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bei Kosten, Modularität, Tendering, Change/Claim, Procurement, Lifecycle, Digital Tools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„An industrialization gap, not a technology gap.“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„Scores are outside-in and directional“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65596" y="2318918"/>
            <a:ext cx="5069891" cy="3747211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639916" y="2318918"/>
            <a:ext cx="452125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Radar-Grafik aus Benchmark einfügen]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Roland-Berger-Benchmark (2026), vertraulich | Vertraulich – Sperrvermerk</a:t>
            </a:r>
            <a:endParaRPr lang="en-US" sz="1000" dirty="0"/>
          </a:p>
        </p:txBody>
      </p:sp>
      <p:sp>
        <p:nvSpPr>
          <p:cNvPr id="8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9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B8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B8 | Kunden belohnen Qualität und Erfahrung, akzeptieren aber nur begrenzte Aufschläge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057400"/>
          <a:ext cx="1111087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434840"/>
                <a:gridCol w="4663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Erfolgsfaktor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Kundensicht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Sicht auf Schaeffler SMB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Qualität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Zentral, allein nicht ausreichend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Stark; externe Kunden sehr zufrieden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Kosten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10–15 % Aufschlag bei bestehender Beziehung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Kritisch: Kostenindex 100 vs. West ca. 90–95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Liefertreue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Kontrollierte Änderungen, klare Eskalation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Bedarf im Change-/Claim-Management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Erfahrung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Belohnt: Erfahrung, risikoarme Ausführung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Anlagenbau- und Ramp-up-Erfahrung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Fähigkeiten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Leistung über den Lebenszyklus (Service)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Service „größtes Sorgenkind“, Potenzial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0410" y="5074920"/>
            <a:ext cx="11110874" cy="120700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56209" y="5212080"/>
            <a:ext cx="1067927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Kundenzitat im Benchmark: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„a range of 15–20 % difference is acceptable“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Externe Kunden: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Siemens Energy, Philips, Stryker, BMW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Roland-Berger-Benchmark (2026), vertraulich; Experteninterviews (2026) | Vertraulich – Sperrvermerk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B9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B9 | Verlustauftragsanalyse: 612 Mio. EUR verlorenes Volumen nach Gründen</a:t>
            </a:r>
            <a:endParaRPr lang="en-US" sz="2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057400"/>
          <a:ext cx="8778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10312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Grund für Auftragsverlust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Volumen (EUR)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Anteil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Kosten zu hoch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482.102.550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0893D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78,8 %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Mangelhafte Projektausführung im Vorprojekt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65.506.779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10,7 %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Sonstige Gründe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31.592.029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5,2 %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Verschoben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21.833.650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3,6 %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Fehlendes Vertrauen als Neulieferant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7.163.065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1,2 %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Lieferzeit zu lang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3.877.695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0,6 %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Gesamt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612.075.768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100 %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Schaeffler Special Machinery / Roland-Berger-Benchmark (2026), vertraulich; Zeitraum 01/2024–06/2026 | Vertraulich – Sperrvermerk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B10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B10 | Strategy Clock und Ansoff verorten Ziel- und Wachstumsposition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STRATEGY CLOCK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Heute: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erhöhter Preis, durchschnittlicher Nutzen →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Risikoposition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Kurz-/mittelfristig: Hybrid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– wettbewerbsfähiger Preis plus Zusatznutzen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Langfristig: fokussierte Differenzierung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(Medtech, Elektrifizierung)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Kostenführerschaft ausgeschlossen: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strukturelle Kostenbasis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65596" y="2318918"/>
            <a:ext cx="50698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ANSOFF-MATRIX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84237" y="2971800"/>
            <a:ext cx="1971675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75677" y="3026664"/>
            <a:ext cx="17887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Markt-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durchdringung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463811" y="2971800"/>
            <a:ext cx="1971675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55251" y="3026664"/>
            <a:ext cx="17887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Produkt-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entwicklung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84237" y="4176979"/>
            <a:ext cx="1971675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75677" y="4231843"/>
            <a:ext cx="17887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Markt-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entwicklung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463811" y="4176979"/>
            <a:ext cx="1971675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55251" y="4231843"/>
            <a:ext cx="17887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Diversifi-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kation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84237" y="2642616"/>
            <a:ext cx="19716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bestehende Produkte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463811" y="2642616"/>
            <a:ext cx="19716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neue Produkte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286957" y="2971800"/>
            <a:ext cx="105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bestehende Märkte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86957" y="4176979"/>
            <a:ext cx="105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neue Märkte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72907" y="4762195"/>
            <a:ext cx="2473909" cy="45720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72907" y="4762195"/>
            <a:ext cx="2473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Option 5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65596" y="5504688"/>
            <a:ext cx="50698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Option 5 liegt zwischen Marktentwicklung und Diversifikation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 nach Whittington et al. (2020), S. 244–248.</a:t>
            </a:r>
            <a:endParaRPr lang="en-US" sz="1000" dirty="0"/>
          </a:p>
        </p:txBody>
      </p:sp>
      <p:sp>
        <p:nvSpPr>
          <p:cNvPr id="22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3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B11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B11 | Outsourcing und M&amp;A wurden begründet verworfen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OUTSOURCING (ENGINEERING/FERTIGUNG)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Verlagerung an günstigere Partner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Verworfen: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schwächt die wertvolle,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kundennahe Engineering-Kompetenz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(Kernvorteil) strukturell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M&amp;A ODER JOINT VENTURE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Markteintritt über anorganisches Wachstum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Verworfen: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Kapazitäten begrenzt, </a:t>
            </a: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Prozessbasis noch nicht stabil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; organisch risikoärmer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„Begründete Auswahl innerhalb eines breiteren Möglichkeitsraums“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(2026).</a:t>
            </a:r>
            <a:endParaRPr lang="en-US" sz="1000" dirty="0"/>
          </a:p>
        </p:txBody>
      </p:sp>
      <p:sp>
        <p:nvSpPr>
          <p:cNvPr id="7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B12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B12 | Begründungen der SAF-Einstufung je Option</a:t>
            </a:r>
            <a:endParaRPr 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057400"/>
          <a:ext cx="11110874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8275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Option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Begründung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1. Kostenoptimierung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Größter Hebel; Funktionen vorhanden, besser verzahnen (Transparenz, Zeitbuchung)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2. Modularität / DtC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Kosten plus Wiederverwendung; Engineering sieht Standards als Einschränkung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3. Tendering / Steuerung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Adressiert Change-/Claim-Defizite; Transparenz schafft hohe Akzeptanz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4. Service / Lifecycle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Stärkt Bindung, aber nicht der größte Kostenhebel; Pakete erst aufbauen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5. Diversifikation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Medtech, Industrie attraktiv; Automotive, Defense kritisch; Referenzen fehlen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(2026), basierend auf Benchmark und Interviews (2026). Diversifikation: Warnung vor Humanoids/Physical-AI-Hype ohne klares Geschäftsmodell.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B13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B13 | Jede Roadmap-Phase hat eigene Maßnahmen, Verantwortliche und KPIs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057400"/>
          <a:ext cx="1111087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389120"/>
                <a:gridCol w="51206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Phase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Kernmaßnahmen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KPIs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 | 0–6 M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DtC-Reviews, Kostenmonitoring, Statusformat, Vor-/Nachkalkulation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Durchlaufzeit, Kalkulations- und Kostenabweichung, Statusreview-Quote, Transparenzquote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 | 6–18 M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Modul-Pilot, Servicepakete, DFM, Kapazitätsplanung, Lessons Learned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Wiederverwendung, Engineering-Aufwand, Materialvarianz, Nacharbeit, Serviceumsatz, Reaktionszeit, Zufriedenheit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 | 12–24 M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Ansatz je Vertical: Zielkunden, Use Cases, Regulatorik, Referenzen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646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Opportunities, Referenzprojekte, Erfolgsquote je Vertical, Anteil neuer Branchen, Key Accounts</a:t>
                      </a:r>
                      <a:endParaRPr lang="en-US" sz="16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eigene Darstellung (2026), Tabelle 4 der Arbeit. Verantwortliche je Phase siehe Folie 11.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B14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B14 | Medtech und Industrie sind attraktiv, Automotive und Defense kritisch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MARKTSEGMENTE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Medtech (+):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Key Account „MedTech One“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Industrie (+):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Elektrifizierung, Netze, Datenzentren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Automotive: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preissensibel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Consumer: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Europa ok, Asien preislich schwierig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Defense: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kritisch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Humanoids/Physical AI: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prüfen, Modell unklar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REGIONEN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Europa: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relativ gut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China: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preislich schwierig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APAC: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Wachstum ohne Präsenz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Amerika:</a:t>
            </a: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nur intern bespielbar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0410" y="6327648"/>
            <a:ext cx="11110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Quelle: Experteninterviews (2026); Roland-Berger-Benchmark (2026), vertraulich. Consumer: „Key Account Light“ Philips.</a:t>
            </a:r>
            <a:endParaRPr lang="en-US" sz="1000" dirty="0"/>
          </a:p>
        </p:txBody>
      </p:sp>
      <p:sp>
        <p:nvSpPr>
          <p:cNvPr id="7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B15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B15 | Quellenverzeichnis (1/2)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10679278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Baden-Fuller, C. (1995): Strategic Innovation, Corporate Entrepreneurship and Matching Outside-in to Inside-out Approaches to Strategy Research. British Journal of Management, S. 3–16.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Barney, J. (1991): Firm Resources and Sustained Competitive Advantage. Journal of Management, 17, S. 99–120. https://doi.org/10.1177/014920639101700108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Barney, J. (1995): Looking Inside for Competitive Advantage. Academy of Management Executive, 9, S. 49–61.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Barney, J. B.; Ketchen, D. J.; Wright, M. (2011): The future of resource-based theory: Revitalization or decline? Journal of Management, 37(5), S. 1299–1315.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Infront Consulting (2026): Der Weg zu einem neuen Premium – Wie der deutsche Maschinenbau sein Erfolgsmodell neu ausrichtet.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Kim, S.; Ji, Y. (2018): Gap Analysis. In: The International Encyclopedia of Strategic Communication. Wiley. https://doi.org/10.1002/9781119010722.iesc0079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Meuser, M.; Nagel, U. (2009): Das Experteninterview – konzeptionelle Grundlagen und methodische Anlage. In: Methoden der vergleichenden Politik- und Sozialwissenschaft, S. 465–479.</a:t>
            </a:r>
            <a:endParaRPr lang="en-US" sz="1600" dirty="0"/>
          </a:p>
        </p:txBody>
      </p:sp>
      <p:sp>
        <p:nvSpPr>
          <p:cNvPr id="5" name="Text 6"/>
          <p:cNvSpPr/>
          <p:nvPr>
            <p:ph idx="108" type="body" hasCustomPrompt="1"/>
          </p:nvPr>
        </p:nvSpPr>
        <p:spPr>
          <a:xfrm>
            <a:off x="756209" y="2318918"/>
            <a:ext cx="10679278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B15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B15 | Quellenverzeichnis (2/2)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10679278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Priem, R. L. (2001): Is the Resource-Based „View“ a Useful Perspective for Strategic Management Research? Academy of Management Review, 26(1), S. 22–40.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Produktion (2026): Wo der deutsche Maschinenbau wieder wachsen kann.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Schröder, C. (2025): IW-Trends 2/2025 – Lohnstückkosten, Produktivität und Wettbewerbsfähigkeit der deutschen Industrie. Institut der deutschen Wirtschaft Köln.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Whittington, R. et al. (2020): Exploring Strategy: Text and Cases. 12. Aufl., Harlow: Pearson.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Roland Berger / Schaeffler Special Machinery (2026): Benchmark – Competitive positioning of SMB (intern, vertraulich; vollständige Quellenangabe entfällt aus Vertraulichkeitsgründen).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Interviews: Commercial Sales (Taicang), External Key Account Management (Europa), PMO (Cheraw), jeweils Juli 2026.</a:t>
            </a:r>
            <a:endParaRPr lang="en-US" sz="1600" dirty="0"/>
          </a:p>
        </p:txBody>
      </p:sp>
      <p:sp>
        <p:nvSpPr>
          <p:cNvPr id="5" name="Text 6"/>
          <p:cNvSpPr/>
          <p:nvPr>
            <p:ph idx="108" type="body" hasCustomPrompt="1"/>
          </p:nvPr>
        </p:nvSpPr>
        <p:spPr>
          <a:xfrm>
            <a:off x="756209" y="2318918"/>
            <a:ext cx="10679278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B16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B16 | [PLATZHALTER: Thema]</a:t>
            </a:r>
            <a:endParaRPr lang="en-US" sz="2800" dirty="0"/>
          </a:p>
        </p:txBody>
      </p:sp>
      <p:sp>
        <p:nvSpPr>
          <p:cNvPr id="4" name="Text 6"/>
          <p:cNvSpPr/>
          <p:nvPr>
            <p:ph idx="108" type="body" hasCustomPrompt="1"/>
          </p:nvPr>
        </p:nvSpPr>
        <p:spPr>
          <a:xfrm>
            <a:off x="756209" y="2318918"/>
            <a:ext cx="10679278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Inhalt]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B17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B17 | [PLATZHALTER: Thema]</a:t>
            </a:r>
            <a:endParaRPr lang="en-US" sz="2800" dirty="0"/>
          </a:p>
        </p:txBody>
      </p:sp>
      <p:sp>
        <p:nvSpPr>
          <p:cNvPr id="4" name="Text 6"/>
          <p:cNvSpPr/>
          <p:nvPr>
            <p:ph idx="108" type="body" hasCustomPrompt="1"/>
          </p:nvPr>
        </p:nvSpPr>
        <p:spPr>
          <a:xfrm>
            <a:off x="756209" y="2318918"/>
            <a:ext cx="10679278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Inhalt]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04672"/>
            <a:ext cx="882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93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BACKUP B18</a:t>
            </a:r>
            <a:endParaRPr lang="en-US" sz="16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B18 | [PLATZHALTER: Thema]</a:t>
            </a:r>
            <a:endParaRPr lang="en-US" sz="2800" dirty="0"/>
          </a:p>
        </p:txBody>
      </p:sp>
      <p:sp>
        <p:nvSpPr>
          <p:cNvPr id="4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Inhalt]</a:t>
            </a:r>
            <a:endParaRPr lang="en-US" sz="1600" dirty="0"/>
          </a:p>
        </p:txBody>
      </p:sp>
      <p:sp>
        <p:nvSpPr>
          <p:cNvPr id="5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47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[PLATZHALTER: Inhalt]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FFFFFF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haeffler PA2">
  <a:themeElements>
    <a:clrScheme name="Schaeffler PA2">
      <a:dk1>
        <a:srgbClr val="646464"/>
      </a:dk1>
      <a:lt1>
        <a:srgbClr val="FFFFFF"/>
      </a:lt1>
      <a:dk2>
        <a:srgbClr val="646464"/>
      </a:dk2>
      <a:lt2>
        <a:srgbClr val="EFEFEF"/>
      </a:lt2>
      <a:accent1>
        <a:srgbClr val="00893D"/>
      </a:accent1>
      <a:accent2>
        <a:srgbClr val="99D0B1"/>
      </a:accent2>
      <a:accent3>
        <a:srgbClr val="646464"/>
      </a:accent3>
      <a:accent4>
        <a:srgbClr val="C1C1C1"/>
      </a:accent4>
      <a:accent5>
        <a:srgbClr val="EFEFEF"/>
      </a:accent5>
      <a:accent6>
        <a:srgbClr val="00893D"/>
      </a:accent6>
      <a:hlink>
        <a:srgbClr val="00893D"/>
      </a:hlink>
      <a:folHlink>
        <a:srgbClr val="646464"/>
      </a:folHlink>
    </a:clrScheme>
    <a:fontScheme name="Schaeffler PA2">
      <a:majorFont>
        <a:latin typeface="Barlow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arlow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DHBW 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Strategie- und Maßnahmenentwicklung für den Schaeffler Sondermaschinenbau</dc:title>
  <dc:subject>PptxGenJS Presentation</dc:subject>
  <dc:creator>Lennart Kleemann</dc:creator>
  <cp:lastModifiedBy>Lennart Kleemann</cp:lastModifiedBy>
  <cp:revision>1</cp:revision>
  <dcterms:created xsi:type="dcterms:W3CDTF">2026-10-13T13:21:04Z</dcterms:created>
  <dcterms:modified xsi:type="dcterms:W3CDTF">2026-10-13T13:21:04Z</dcterms:modified>
</cp:coreProperties>
</file>