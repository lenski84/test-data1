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1daa7341-6596-ad6f-4ee5-690885e0b39c}">
          <p14:sldIdLst>
            <p14:sldId id="256"/>
            <p14:sldId id="257"/>
          </p14:sldIdLst>
        </p14:section>
        <p14:section name="Hauptteil" id="{b7f371ea-363f-0310-db53-5d22cb06711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Backup" id="{ac0ca510-ebcc-a427-4ccc-587f7931ff20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Anteil</c:v>
                </c:pt>
              </c:strCache>
            </c:strRef>
          </c:tx>
          <c:spPr>
            <a:solidFill>
              <a:srgbClr val="646464"/>
            </a:solidFill>
            <a:effectLst/>
          </c:spPr>
          <c:invertIfNegative val="0"/>
          <c:dLbls>
            <c:numFmt formatCode="0.0&quot; 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64646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464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4646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4646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646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4646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893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Lieferzeit zu lang</c:v>
                  </c:pt>
                  <c:pt idx="1">
                    <c:v>Fehlendes Vertrauen als Neulieferant</c:v>
                  </c:pt>
                  <c:pt idx="2">
                    <c:v>Verschoben</c:v>
                  </c:pt>
                  <c:pt idx="3">
                    <c:v>Sonstige Gründe</c:v>
                  </c:pt>
                  <c:pt idx="4">
                    <c:v>Mangelhafte Projektausführung im Vorprojekt</c:v>
                  </c:pt>
                  <c:pt idx="5">
                    <c:v>Kosten zu hoch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</c:v>
                </c:pt>
                <c:pt idx="1">
                  <c:v>1.2</c:v>
                </c:pt>
                <c:pt idx="2">
                  <c:v>3.6</c:v>
                </c:pt>
                <c:pt idx="3">
                  <c:v>5.2</c:v>
                </c:pt>
                <c:pt idx="4">
                  <c:v>10.7</c:v>
                </c:pt>
                <c:pt idx="5">
                  <c:v>78.8</c:v>
                </c:pt>
              </c:numCache>
            </c:numRef>
          </c:val>
        </c:ser>
        <c:dLbls>
          <c:numFmt formatCode="0.0&quot; 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64646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464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1C1C1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64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0:15 min | kumuliert: 0:15
- Begrüßung, Name, Kurs WWI24SCA, Praxispartner Schaeffler Technologies AG &amp; Co. KG
- Thema: Strategie- und Maßnahmenentwicklung für den Schaeffler Sondermaschinenbau (SMB) auf Basis eines externen Benchmarks
- Hinweis: Arbeit mit Sperrvermerk, Benchmark-Daten sind vertraulich
- Betreuung: Verena Becs (Unternehmen), Prof. Dr. Frank Koslowski (DHBW); Bearbeitungszeitraum 11.05.–20.08.2026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0:30 min | kumuliert: 0:45
- Aufbau folgt der Logik: Ausgangslage → Problem → Methodik → Ergebnisse → Evaluation → Reflexion → Fazit
- Kern der Arbeit: Abgleich Innen- (VRIO) und Außensicht (Benchmark) per GAP-Analyse
- Ergebnis: 5 Optionen, SAF-bewertet, in Roadmap überführt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1:15 min | kumuliert: 2:00
- SMB: Sondermaschinen und Produktionsanlagen, Spannungsfeld interne Industriefunktion vs. externe Wettbewerbsfähigkeit
- Ausgangslage ambivalent: starke technische Basis, aber deutliche Schwächen in der Kostenstruktur
- Cheraw: kleines, multifunktionales Setup → Agilität, aber Überlastung, geringe Spezialisierung, fragmentierte Steuerung
- Warum innen + außen: Eine Ressource kann intern als Stärke gelten, ohne extern einen Vorteil zu erzeugen (Baden-Fuller, 1995)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1:30 min | kumuliert: 3:30
- 482 von 612 Mio. EUR verlorenem Auftragsvolumen entfallen auf „zu hohe Kosten“ (78,8 %)
- Zweitgrößter Grund: mangelhafte Projektausführung im Vorprojekt (10,7 %) → Ausführung, nicht Technik
- Kostenindex: SMB 100 vs. westliche Wettbewerber ≈ 90–95 vs. chinesische ≈ 55–65
- Plausibilisierung: deutsche Lohnstückkosten 2024 rund 22 % über dem Durchschnitt von 27 Industriestaaten (Schröder, IW-Trends 2/2025, S. 1)
Mögliche Prüferfrage: Wie belastbar ist der Benchmark eines Beraters? / Antwortlinie: „outside-in and directional“; extern plausibilisiert (IW +22 %, Infront 2026) und intern über Interviews gespiegelt.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0:45 min | kumuliert: 4:15
- Forschungsfrage wörtlich vorlesen bzw. in zwei Teilen erläutern: (1) Handlungsfelder identifizieren, (2) Initiativen ableiten und priorisieren
- Zielsetzung anwendungsorientiert: nicht bei der Analyse enden, sondern erste Umsetzungslogik (Roadmap) ableiten
- Überleitung: Wie wurde das methodisch gelöst?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1:30 min | kumuliert: 5:45
- Exploring Strategy (Johnson/Whittington) als Klammer: Position → Choices → Action = Kapitel 3–5
- VRIO bewertet das interne Ist, der Benchmark liefert das externe Soll; GAP-Analyse macht die Lücken sichtbar
- Strategy Clock + Ansoff leiten Optionen ab, SAF bewertet sie (Suitability, Acceptability, Feasibility)
- Interviews: Validierung, Präzisierung, Kontextualisierung der Benchmark-Befunde – keine statistische Repräsentativität
Mögliche Prüferfrage: Was ist Ihre Eigenleistung? / Antwortlinie: Benchmark-Daten übernommen; Bezugsrahmen, Interviews, VRIO, GAP, Optionen, SAF und Roadmap eigen.
Mögliche Prüferfrage: Sind 3 Interviews repräsentativ? / Antwortlinie: Nein, ausdrücklich nicht beansprucht; Hauptdatenbasis ist der Benchmark, Interviews plausibilisieren; Ausweitung ist Folgeschritt.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1:15 min | kumuliert: 7:00
- Value ist fast überall gegeben – das Problem liegt in der Spalte Organization
- Technologie: wertvoll, aber nicht selten; Wissen nicht modularisiert (gestützt durch Infront Consulting, 2026)
- Preis/Kosten: kritischste Dimension, Ergebnis der Organisation – daher Rarity/Imitability nicht anwendbar („–“)
- Service: „größtes Sorgenkind“, aber Potenzial; Netzwerk wertvoll, aber unzureichend koordiniert
Prüferfrage: Widerspruch Finanzielle Stabilität (Tabelle „nachhaltig“, Text „Vertrauensanker“)? / Antwortlinie: Formal VRIO-erfüllt (Konzernrückhalt schwer kopierbar), strategisch aber unterstützende Ressource ohne eigenen Differenzierungshebel; die Tabelle verkürzt das zu stark – offen eingestehen.
Prüferfrage: Mitarbeiter- und Kompetenzstruktur kaum diskutiert? / Antwortlinie: aus Interviews ableitbar: Unterbesetzung im KAM, Fluktuation erfahrener Designer/Technical Sales, Rollenüberlastung in Cheraw, fehlende eigene Prozessparameter-Entwicklung bei Kleben/Schweißen.
Prüferfrage: Technologie „nicht selten“ vs. Rarity „Mittel“? / Antwortlinie: spezifisches Ramp-up- und Anlagenbau-Know-how nicht vollständig marktüblich; ohne Organisation aber nicht nachhaltig.
Prüferfrage: Nicht-Standard-Klassifikationen („Gemischt“ etc.)? / Antwortlinie: bewusste fallbezogene Präzisierung des klassischen VRIO-Rasters.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1:30 min | kumuliert: 8:30
- Ist = internes VRIO-Profil, Soll = externe Anforderungen aus dem Benchmark
- Drei priorisierte Gaps: Kosten (78,8 % der Verlustaufträge), Standardisierung (strukturelle Ursache), Tendering/Projektsteuerung (10,7 %)
- Technologie/Qualität: Fit – positiver Befund; Benchmark-Fazit: „An industrialization gap, not a technology gap.“
- Gesamtbefund: Lücke liegt in der Verknüpfung von Planung, Ausführung und Rückkopplung (Engineering, Manufacturing, Projektsteuerung, Wissenstransfer)
- Peer-Radar: SMB bei Kosten, Standardisierung, Tendering u. a. ca. 1–2 Punkte hinter westlichen Peers (Skala 1–5) → B7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1:15 min | kumuliert: 9:45
- Heute: erhöhter Preis bei nur durchschnittlichem, nicht klar differenziertem Nutzen → näher an einer Risikoposition als an stabiler Differenzierung
- Ziel kurz-/mittelfristig: Hybridposition (Kosten + Modularität machen Preis wettbewerbsfähig; Service + Technik sichern Zusatznutzen)
- Langfristig: fokussierte Differenzierung in weniger preissensitiven Branchen (Medtech, Elektrifizierung)
- Kostenführerschaft ausgeschlossen (strukturelle Kostenbasis); Option 5 zwischen Marktentwicklung und Diversifikation (Ansoff)
Prüferfrage: Option 3 passt in kein Modell? / Antwortlinie: operative Voraussetzung, direkt aus dem GAP (10,7 % der Verlustaufträge durch Projektausführung) und dem Cheraw-Interview abgeleitet.
Prüferfrage: Warum keine Kostenführerschaft und kein Outsourcing? / Antwortlinie: strukturelle Kostenbasis; Outsourcing schwächt kundennahe Engineering-Kompetenz → B11.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1:15 min | kumuliert: 11:00
- Suitability = Passung zu den Gaps, Acceptability = Akzeptanz bei Management, Mitarbeitenden, Kunden, Feasibility = Umsetzbarkeit
- Kurzfristig hoch: Kostenoptimierung (größter Hebel, Funktionen vorhanden) und Tendering/Projektsteuerung (hohe Akzeptanz durch Transparenz)
- Modularität: Akzeptanz nur mittel, da Engineering Standardisierung als Einschränkung empfinden kann
- Diversifikation: kurzfristig gering umsetzbar – Referenzen und Marktverständnis fehlen noch
Prüferfrage: Warum kein Scoring – ist das nicht subjektiv? / Antwortlinie: bewusster Verzicht, um Scheingenauigkeit bei explorativer Datenbasis zu vermeiden; Bewertungsregeln sind offengelegt.
Prüferfrage: Acceptability Kosten nur „mittel–hoch“? / Antwortlinie: Kostensenkung trifft Mitarbeitende; Fokus auf Transparenz, Design-to-Cost und Prozessverzahnung statt Personalabbau; „not to chase Chinese cost structures“.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1:30 min | kumuliert: 12:30
- Phase 1 (0–6 M): Kostenbasis und Projektgovernance – Design-to-Cost-Reviews, Kostenmonitoring, Statusformat, idealerweise zentrales System für PM, Forecasting, Action Tracking
- Phase 2 (6–18 M): Modul-Pilot (hohe Wiederholhäufigkeit, relevanter Kostenanteil, geringer Differenzierungsbedarf), Servicepakete (Ersatzteile, Reaktionszeiten, Wartung, Remote Support, Modernisierung)
- Phase 3 (12–24 M): selektive Diversifikation je Vertical; Nachfrage gestützt durch Produktion (2026)
- Abhängigkeitslogik: erst stabile Kosten- und Prozessbasis, dann Differenzierung, dann Wachstum
Prüferfrage: Warum überlappen die Phasen? / Antwortlinie: gewollt – Zeiträume sind Orientierungswerte, die Reihenfolge folgt einer Abhängigkeitslogik, nicht starren Grenzen.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1:15 min | kumuliert: 13:45
- Offen ansprechen: 3 Interviews à ca. 30 min, alle intern, Sales-Bias aus Taicang kann Machbarkeitsbewertung verzerren
- Für die Umsetzung zentrale Funktionen und weitere Standorte fehlen → Ausweitung als Folgeschritt
- Benchmark beruht auf Vergleichsannahmen und Verdichtungen; vor Umsetzung standortspezifische, zahlenbasierte Präzisierung nötig
- Acceptability und Feasibility hängen von Budget, Führungsentscheidungen und Veränderungsbereitschaft ab
Prüferfrage: Wie stark hängt das Ergebnis am Benchmark? / Antwortlinie: extern plausibilisiert (IW +22 %, Infront 2026) und intern über Interviews gespiegelt; Unterlegung mit internen Ist-Daten ist Folgeschritt.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Ziel: 1:00 min | kumuliert: 14:45
- Kernsatz vorlesen: Industrialisierung und wirtschaftliche Skalierung vorhandener Kompetenzen statt Neupositionierung
- Vier Stoßrichtungen plus selektive Diversifikation als langfristige Option
- Pilotlogik; Erfolgsmessung über Kostenabweichung, Wiederverwendungsgrad, Angebotsdurchlaufzeit, Nacharbeitsquote, Serviceumsatz, Kundenzufriedenheit
- Folgeschritte aus den Limitationen: Interviews ausweiten (Einkauf, Fertigung, Service, Controlling, weitere Standorte), Business Cases, Benchmark mit internen Ist-Daten unterlegen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Ende des Vortrags – Übergang in die Fragerunde. Backup-Folien B1–B18 über den Backup-Index (Folie 16) ansteuern.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1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Lennart Kleemann | Projektarbeit 2 | DHBW Mannheim | Vertraulich – Sperrvermerk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Schaeffler-Logo, offizielle Datei]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0" y="1828800"/>
            <a:ext cx="180137" cy="251460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05432" y="795528"/>
            <a:ext cx="5486263" cy="570219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8" name="Text 6"/>
          <p:cNvSpPr/>
          <p:nvPr>
            <p:ph idx="106" type="body" hasCustomPrompt="1"/>
          </p:nvPr>
        </p:nvSpPr>
        <p:spPr>
          <a:xfrm>
            <a:off x="540410" y="1417320"/>
            <a:ext cx="5943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9" name="Text 6"/>
          <p:cNvSpPr/>
          <p:nvPr>
            <p:ph idx="107" type="title" hasCustomPrompt="1"/>
          </p:nvPr>
        </p:nvSpPr>
        <p:spPr>
          <a:xfrm>
            <a:off x="540410" y="1828800"/>
            <a:ext cx="598932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10" name="Text 6"/>
          <p:cNvSpPr/>
          <p:nvPr>
            <p:ph idx="108" type="body" hasCustomPrompt="1"/>
          </p:nvPr>
        </p:nvSpPr>
        <p:spPr>
          <a:xfrm>
            <a:off x="540410" y="3931920"/>
            <a:ext cx="59436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11" name="Text 6"/>
          <p:cNvSpPr/>
          <p:nvPr>
            <p:ph idx="109" type="body" hasCustomPrompt="1"/>
          </p:nvPr>
        </p:nvSpPr>
        <p:spPr>
          <a:xfrm>
            <a:off x="540410" y="4846320"/>
            <a:ext cx="5943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2 Inhalt 1 Kach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Lennart Kleemann | Projektarbeit 2 | DHBW Mannheim | Vertraulich – Sperrvermerk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Schaeffler-Logo, offizielle Datei]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0" y="841248"/>
            <a:ext cx="180137" cy="1078992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540410" y="2103120"/>
            <a:ext cx="11110874" cy="416052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28923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3 Zwei Kachel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Lennart Kleemann | Projektarbeit 2 | DHBW Mannheim | Vertraulich – Sperrvermerk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Schaeffler-Logo, offizielle Datei]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0" y="841248"/>
            <a:ext cx="180137" cy="1078992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540410" y="2103120"/>
            <a:ext cx="5501488" cy="416052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49797" y="2103120"/>
            <a:ext cx="5501488" cy="416052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12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4 Kennzahl und Diagram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Lennart Kleemann | Projektarbeit 2 | DHBW Mannheim | Vertraulich – Sperrvermerk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Schaeffler-Logo, offizielle Datei]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0" y="841248"/>
            <a:ext cx="180137" cy="1078992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540410" y="2103120"/>
            <a:ext cx="3291840" cy="416052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940150" y="2103120"/>
            <a:ext cx="7711135" cy="239572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940150" y="4606747"/>
            <a:ext cx="7711135" cy="1656893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5 Zitat-Kach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Lennart Kleemann | Projektarbeit 2 | DHBW Mannheim | Vertraulich – Sperrvermerk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Schaeffler-Logo, offizielle Datei]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0" y="841248"/>
            <a:ext cx="180137" cy="1078992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540410" y="2103120"/>
            <a:ext cx="11110874" cy="214884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0410" y="4359859"/>
            <a:ext cx="3631692" cy="1903781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280002" y="4359859"/>
            <a:ext cx="3631692" cy="1903781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019593" y="4359859"/>
            <a:ext cx="3631692" cy="1903781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0410" y="2103120"/>
            <a:ext cx="107899" cy="214884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6 Prozes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Lennart Kleemann | Projektarbeit 2 | DHBW Mannheim | Vertraulich – Sperrvermerk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Schaeffler-Logo, offizielle Datei]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0" y="841248"/>
            <a:ext cx="180137" cy="1078992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540410" y="2103120"/>
            <a:ext cx="5501488" cy="86868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49797" y="2103120"/>
            <a:ext cx="3631692" cy="86868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9889388" y="2103120"/>
            <a:ext cx="1761896" cy="86868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540410" y="4069080"/>
            <a:ext cx="11110874" cy="219456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7 Tabel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Lennart Kleemann | Projektarbeit 2 | DHBW Mannheim | Vertraulich – Sperrvermerk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Schaeffler-Logo, offizielle Datei]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0" y="841248"/>
            <a:ext cx="180137" cy="1078992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8 Roadma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Lennart Kleemann | Projektarbeit 2 | DHBW Mannheim | Vertraulich – Sperrvermerk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Schaeffler-Logo, offizielle Datei]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0" y="841248"/>
            <a:ext cx="180137" cy="1078992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540410" y="3493008"/>
            <a:ext cx="3631692" cy="2770632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80002" y="3493008"/>
            <a:ext cx="3631692" cy="2770632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19593" y="3493008"/>
            <a:ext cx="3631692" cy="2770632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9 Drei Kachel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Lennart Kleemann | Projektarbeit 2 | DHBW Mannheim | Vertraulich – Sperrvermerk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Schaeffler-Logo, offizielle Datei]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0" y="841248"/>
            <a:ext cx="180137" cy="1078992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8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540410" y="2103120"/>
            <a:ext cx="11110874" cy="105156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0410" y="3262579"/>
            <a:ext cx="3631692" cy="3001061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280002" y="3262579"/>
            <a:ext cx="3631692" cy="3001061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8019593" y="3262579"/>
            <a:ext cx="3631692" cy="3001061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0410" y="2103120"/>
            <a:ext cx="107899" cy="10515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10 Schlus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05626"/>
            <a:ext cx="12191695" cy="252374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0410" y="6605626"/>
            <a:ext cx="8229600" cy="2523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Lennart Kleemann | Projektarbeit 2 | DHBW Mannheim | Vertraulich – Sperrvermerk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548165" y="182880"/>
            <a:ext cx="2103120" cy="4297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Schaeffler-Logo, offizielle Datei]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0" y="2514600"/>
            <a:ext cx="180137" cy="160020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Text 5"/>
          <p:cNvSpPr/>
          <p:nvPr>
            <p:ph idx="105" type="title" hasCustomPrompt="1"/>
          </p:nvPr>
        </p:nvSpPr>
        <p:spPr>
          <a:xfrm>
            <a:off x="540410" y="2514600"/>
            <a:ext cx="1111087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8" name="Text 5"/>
          <p:cNvSpPr/>
          <p:nvPr>
            <p:ph idx="106" type="body" hasCustomPrompt="1"/>
          </p:nvPr>
        </p:nvSpPr>
        <p:spPr>
          <a:xfrm>
            <a:off x="540410" y="3611880"/>
            <a:ext cx="11110874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17.xml"/><Relationship Id="rId2" Type="http://schemas.openxmlformats.org/officeDocument/2006/relationships/slide" Target="slide18.xml"/><Relationship Id="rId3" Type="http://schemas.openxmlformats.org/officeDocument/2006/relationships/slide" Target="slide19.xml"/><Relationship Id="rId4" Type="http://schemas.openxmlformats.org/officeDocument/2006/relationships/slide" Target="slide20.xml"/><Relationship Id="rId5" Type="http://schemas.openxmlformats.org/officeDocument/2006/relationships/slide" Target="slide21.xml"/><Relationship Id="rId6" Type="http://schemas.openxmlformats.org/officeDocument/2006/relationships/slide" Target="slide22.xml"/><Relationship Id="rId7" Type="http://schemas.openxmlformats.org/officeDocument/2006/relationships/slide" Target="slide23.xml"/><Relationship Id="rId8" Type="http://schemas.openxmlformats.org/officeDocument/2006/relationships/slide" Target="slide24.xml"/><Relationship Id="rId9" Type="http://schemas.openxmlformats.org/officeDocument/2006/relationships/slide" Target="slide25.xml"/><Relationship Id="rId10" Type="http://schemas.openxmlformats.org/officeDocument/2006/relationships/slide" Target="slide26.xml"/><Relationship Id="rId11" Type="http://schemas.openxmlformats.org/officeDocument/2006/relationships/slide" Target="slide27.xml"/><Relationship Id="rId12" Type="http://schemas.openxmlformats.org/officeDocument/2006/relationships/slide" Target="slide28.xml"/><Relationship Id="rId13" Type="http://schemas.openxmlformats.org/officeDocument/2006/relationships/slide" Target="slide29.xml"/><Relationship Id="rId14" Type="http://schemas.openxmlformats.org/officeDocument/2006/relationships/slide" Target="slide30.xml"/><Relationship Id="rId15" Type="http://schemas.openxmlformats.org/officeDocument/2006/relationships/slide" Target="slide31.xml"/><Relationship Id="rId16" Type="http://schemas.openxmlformats.org/officeDocument/2006/relationships/slide" Target="slide32.xml"/><Relationship Id="rId17" Type="http://schemas.openxmlformats.org/officeDocument/2006/relationships/slide" Target="slide33.xml"/><Relationship Id="rId18" Type="http://schemas.openxmlformats.org/officeDocument/2006/relationships/slide" Target="slide34.xml"/><Relationship Id="rId19" Type="http://schemas.openxmlformats.org/officeDocument/2006/relationships/slideLayout" Target="../slideLayouts/slideLayout3.xml"/><Relationship Id="rId2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6" type="body" hasCustomPrompt="1"/>
          </p:nvPr>
        </p:nvSpPr>
        <p:spPr>
          <a:xfrm>
            <a:off x="540410" y="14173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PROJEKTARBEIT 2 | DHBW MANNHEIM</a:t>
            </a:r>
            <a:endParaRPr lang="en-US" sz="1200" dirty="0"/>
          </a:p>
        </p:txBody>
      </p:sp>
      <p:sp>
        <p:nvSpPr>
          <p:cNvPr id="3" name="Text 6"/>
          <p:cNvSpPr/>
          <p:nvPr>
            <p:ph idx="107" type="title" hasCustomPrompt="1"/>
          </p:nvPr>
        </p:nvSpPr>
        <p:spPr>
          <a:xfrm>
            <a:off x="540410" y="1828800"/>
            <a:ext cx="5989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STRATEGIE- UND MASSNAHMEN­ENTWICKLUNG FÜR DEN SCHAEFFLER SONDER­MASCHINENBAU</a:t>
            </a:r>
            <a:endParaRPr lang="en-US" sz="3000" dirty="0"/>
          </a:p>
        </p:txBody>
      </p:sp>
      <p:sp>
        <p:nvSpPr>
          <p:cNvPr id="4" name="Text 6"/>
          <p:cNvSpPr/>
          <p:nvPr>
            <p:ph idx="108" type="body" hasCustomPrompt="1"/>
          </p:nvPr>
        </p:nvSpPr>
        <p:spPr>
          <a:xfrm>
            <a:off x="540410" y="39319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basierend auf einem externen Benchmark</a:t>
            </a:r>
            <a:endParaRPr lang="en-US" sz="1800" dirty="0"/>
          </a:p>
        </p:txBody>
      </p:sp>
      <p:sp>
        <p:nvSpPr>
          <p:cNvPr id="5" name="Text 6"/>
          <p:cNvSpPr/>
          <p:nvPr>
            <p:ph idx="109" type="body" hasCustomPrompt="1"/>
          </p:nvPr>
        </p:nvSpPr>
        <p:spPr>
          <a:xfrm>
            <a:off x="540410" y="484632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Lennart Kleemann | WWI24SCA | [PLATZHALTER: Prüfungsdatum]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Schaeffler Technologies AG &amp; Co. KG | Wirtschaftsinformatik – Sales &amp; Consulting</a:t>
            </a:r>
            <a:endParaRPr lang="en-US" sz="1400" dirty="0"/>
          </a:p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DHBW-Logo, einfarbig grau, optional]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254072" y="3108960"/>
            <a:ext cx="4388983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Foto Sondermaschine/Anlage aus der Schaeffler-Mediendatenbank]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0410" y="59893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Vertraulich – Sperrvermerk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56209" y="2318918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6209" y="231891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04849" y="2318918"/>
            <a:ext cx="100135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Ausgangssituation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Der SMB und sein Marktumfeld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56209" y="2853842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6209" y="285384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04849" y="2853842"/>
            <a:ext cx="100135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Problemstellung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Verlustaufträge, Kostenposition, Forschungsfrage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56209" y="3388766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56209" y="338876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04849" y="3388766"/>
            <a:ext cx="100135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Methodik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Analysepfad von VRIO bis Roadmap, Datenbasis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56209" y="3923690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56209" y="392369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04849" y="3923690"/>
            <a:ext cx="100135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VRIO, GAP-Analyse, strategische Optionen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56209" y="4458614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6209" y="44586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04849" y="4458614"/>
            <a:ext cx="100135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und Umsetzung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SAF-Bewertung und dreiphasige Roadmap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56209" y="4993538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6209" y="49935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04849" y="4993538"/>
            <a:ext cx="100135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Kritische Reflexion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Limitationen und Umgang damit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56209" y="5528462"/>
            <a:ext cx="365760" cy="365760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6209" y="55284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304849" y="5528462"/>
            <a:ext cx="100135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Fazit und Ausblick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Antwort auf die Forschungsfrage, nächste Schritte</a:t>
            </a:r>
            <a:endParaRPr lang="en-US" sz="1400" dirty="0"/>
          </a:p>
        </p:txBody>
      </p:sp>
      <p:sp>
        <p:nvSpPr>
          <p:cNvPr id="26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| AUSGANGSSITUATION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SMB verbindet starke Technik mit einem schwierigen Marktumfeld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2052" y="2282342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SMB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Anbieter komplexer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Automatisierungs- und Fertigungslösungen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der Schaeffler-Gruppe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Entwicklung, Konstruktion, Fertigung, Montage, Inbetriebnahme von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Sondermaschinen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Bedient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konzerninterne Anforderungen und externes Geschäft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Globale Standorte, u. a.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Taicang, Erlangen, Cheraw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Internes Geschäft zu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70–80 % Automotive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Stärken: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Anlagenbau-Erfahrung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technisches Know-how, Konzerneinbindung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1438" y="2282342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MARKTUMFELD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Zunehmender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Kostendruck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Schwächen v. a. in der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Kostenstruktur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Chinesische Wettbewerber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mit deutlich niedrigerer Kostenbasis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Wettbewerbsfähigkeit hängt nicht mehr allein an der Technik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Ebenso relevant: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Standardisierung, Modularität, Projektsteuerung, Service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 verschiebt sich von Lösungskompetenz zu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effizient, wiederholbar, wirtschaftlich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Daher: Innen- und Außensicht verbinden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(2026), basierend auf Roland-Berger-Benchmark (2026) und Experteninterviews (2026); Baden-Fuller (1995), S. 3 f.</a:t>
            </a:r>
            <a:endParaRPr lang="en-US" sz="900" dirty="0"/>
          </a:p>
        </p:txBody>
      </p:sp>
      <p:sp>
        <p:nvSpPr>
          <p:cNvPr id="10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1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| PROBLEMSTELLUNG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SMB verliert Aufträge über Kosten, nicht über Technologie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606040"/>
            <a:ext cx="2860243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78,8 %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756209" y="3703320"/>
            <a:ext cx="286024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 verlorenen Auftragsvolumens (</a:t>
            </a:r>
            <a:r>
              <a:rPr lang="en-US" sz="1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482 von 612 Mio. EUR</a:t>
            </a:r>
            <a:r>
              <a:rPr lang="en-US" sz="16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wegen </a:t>
            </a:r>
            <a:r>
              <a:rPr lang="en-US" sz="1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hoher Kosten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Zeitraum 01/2024–06/2026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155948" y="2249424"/>
            <a:ext cx="7279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GRÜNDE FÜR AUFTRAGSVERLUST (ANTEIL AM VOLUMEN)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031590" y="2514600"/>
          <a:ext cx="7436815" cy="19385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55948" y="4753051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KOSTENINDEX (SMB = 100)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155948" y="5137099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Schaeffler SMB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71870" y="5137099"/>
            <a:ext cx="4053535" cy="256032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16845" y="5137099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155948" y="5502859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Westliche Wettbewerber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271870" y="5502859"/>
            <a:ext cx="3648182" cy="256032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920051" y="5502859"/>
            <a:ext cx="202677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10214168" y="5502859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90–95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155948" y="5868619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Chinesische Wettbewerber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71870" y="5868619"/>
            <a:ext cx="2229444" cy="256032"/>
          </a:xfrm>
          <a:prstGeom prst="rect">
            <a:avLst/>
          </a:prstGeom>
          <a:solidFill>
            <a:srgbClr val="646464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501314" y="5868619"/>
            <a:ext cx="405354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8998107" y="5868619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55–65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Roland-Berger-Benchmark (2026), vertraulich; Verlustauftragsanalyse 01/2024–06/2026; gestrichelt = Spanne laut Benchmark | Vertraulich – Sperrvermerk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| PROBLEMSTELLUNG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Forschungsfrage und Zielsetzung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64108" y="2318918"/>
            <a:ext cx="10571378" cy="17172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FORSCHUNGSFRAGE</a:t>
            </a:r>
            <a:endParaRPr lang="en-US" sz="1400" dirty="0"/>
          </a:p>
          <a:p>
            <a:pPr indent="0" marL="0">
              <a:buNone/>
            </a:pPr>
            <a:r>
              <a:rPr lang="en-US" sz="16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„Welche strategischen Handlungsfelder lassen sich für den Sondermaschinenbau aus dem Abgleich des internen Ressourcenprofils mit dem externen Markt- und Wettbewerbsprofil des Roland-Berger-Benchmarks im Rahmen einer GAP-Analyse identifizieren, und welche strategischen Initiativen lassen sich daraus unter Anwendung des SAF-Frameworks ableiten und priorisieren?“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56209" y="4575658"/>
            <a:ext cx="329184" cy="329184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6209" y="457565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13409" y="4575658"/>
            <a:ext cx="2742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IDENTIFIZIEREN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6209" y="5078578"/>
            <a:ext cx="320009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Strategische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Handlungsfelder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aus der GAP-Analyse (Ist vs. Soll)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879494" y="508315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4495800" y="4575658"/>
            <a:ext cx="329184" cy="329184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95800" y="457565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53000" y="4575658"/>
            <a:ext cx="2742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ABLEITEN UND PRIORISIEREN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95800" y="5078578"/>
            <a:ext cx="320009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Strategische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Initiativen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ableiten und mit dem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SAF-Framework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bewerten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619086" y="5083150"/>
            <a:ext cx="228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235391" y="4575658"/>
            <a:ext cx="329184" cy="329184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35391" y="457565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692591" y="4575658"/>
            <a:ext cx="27428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UMSETZEN (ROADMAP)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35391" y="5078578"/>
            <a:ext cx="320009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Anwendungsorientiert: erste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Umsetzungslogik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mit Verantwortlichkeiten und KPIs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| METHODIK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mehrstufiger Analysepfad verbindet Innen- und Außensicht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77570" y="2212848"/>
            <a:ext cx="52271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POSITION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Kapitel 3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86957" y="2212848"/>
            <a:ext cx="335737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CHOICES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Kapitel 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026548" y="2212848"/>
            <a:ext cx="148757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IN ACTION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Kapitel 5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0410" y="3090672"/>
            <a:ext cx="1851508" cy="868680"/>
          </a:xfrm>
          <a:prstGeom prst="homePlate">
            <a:avLst/>
          </a:prstGeom>
          <a:solidFill>
            <a:srgbClr val="EFEFEF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1850" y="3090672"/>
            <a:ext cx="13028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(Ist)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10206" y="3090672"/>
            <a:ext cx="1851508" cy="868680"/>
          </a:xfrm>
          <a:prstGeom prst="chevron">
            <a:avLst/>
          </a:prstGeom>
          <a:solidFill>
            <a:srgbClr val="EFEFEF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21102" y="3090672"/>
            <a:ext cx="13028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(Soll)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80002" y="3090672"/>
            <a:ext cx="1851508" cy="868680"/>
          </a:xfrm>
          <a:prstGeom prst="chevron">
            <a:avLst/>
          </a:prstGeom>
          <a:solidFill>
            <a:srgbClr val="EFEFEF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898" y="3090672"/>
            <a:ext cx="13028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GAP-Analyse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Handlungsfelder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49797" y="3090672"/>
            <a:ext cx="1851508" cy="868680"/>
          </a:xfrm>
          <a:prstGeom prst="chevron">
            <a:avLst/>
          </a:prstGeom>
          <a:solidFill>
            <a:srgbClr val="EFEFEF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0693" y="3090672"/>
            <a:ext cx="13028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Clock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Ansoff → 5 Optionen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19593" y="3090672"/>
            <a:ext cx="1851508" cy="868680"/>
          </a:xfrm>
          <a:prstGeom prst="chevron">
            <a:avLst/>
          </a:prstGeom>
          <a:solidFill>
            <a:srgbClr val="EFEFEF"/>
          </a:solidFill>
          <a:ln w="12700">
            <a:solidFill>
              <a:srgbClr val="64646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30489" y="3090672"/>
            <a:ext cx="13028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SAF-Bewertung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Priorisierung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889388" y="3090672"/>
            <a:ext cx="1851508" cy="868680"/>
          </a:xfrm>
          <a:prstGeom prst="chevron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00284" y="3090672"/>
            <a:ext cx="13028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56209" y="4284878"/>
            <a:ext cx="5248199" cy="1762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DATENBASIS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Roland-Berger-Benchmark (2026, extern):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Kostenindex, Verlustaufträge, Peer-Radar, Kundenerfolgsfaktoren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Experteninterviews (eigen):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Juli 2026, MS Teams, je ca. 30 min, teilstrukturiert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Taicang (Commercial Sales), Europa (External KAM), Cheraw (PMO); deduktive Auswertung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187288" y="4284878"/>
            <a:ext cx="5248199" cy="1762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EIGENLEISTUNG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Auswahl und Kombination des theoretischen Bezugsrahmens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Leitfaden, Durchführung und Auswertung der Interviews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VRIO-Bewertung, GAP-Analyse, 5 Optionen, SAF-Bewertung, Roadmap mit KPIs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 nach Whittington et al. (2020), S. 11 f.; Barney (1991, 1995); Kim &amp; Ji (2018); Nagel &amp; Meuser (2009). Interviews dienen der Validierung, nicht der Repräsentativität.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| ERGEBNISSE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Ressourcen sind wertvoll, aber organisatorisch nicht ausgeschöpft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103120"/>
          <a:ext cx="8275320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914400"/>
                <a:gridCol w="1097280"/>
                <a:gridCol w="1097280"/>
                <a:gridCol w="109728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Rarity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Imitability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Klassifikation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Technologie- und Engineering-Kompetenz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Teilweise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Temporärer Wettbewerbsvorteil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Kundenbeziehungen und Vertrieb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Niedrig–Mittel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Mittel–Hoch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Gemischt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 und Kostenstruktur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Wettbewerbsnachteil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Servicequalität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Ja, Potenzial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n.b.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n.b.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Nachteil mit Potenzial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Globales Netzwerk und regionale Präsenz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Mittel–Hoch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Ungenutztes Potenzial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Finanzielle Stabilität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Nachhaltiger Wettbewerbsvorteil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Mitarbeiter- und Kompetenzstruktur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Niedrig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Wettbewerbsnachteil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923630" y="2103120"/>
            <a:ext cx="2727655" cy="416052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06510" y="2318918"/>
            <a:ext cx="23618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KERNBEFUND: ORGANIZATION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Stärken werden </a:t>
            </a: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 in Prozesse und Standards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übersetzt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Wissen bleibt an </a:t>
            </a: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Personen, Standorte, Einzelprojekte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gebunden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Kosten: </a:t>
            </a: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VRIO-Ressource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sondern Ergebnis der Organisation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9088222" y="5239512"/>
            <a:ext cx="201168" cy="164592"/>
          </a:xfrm>
          <a:prstGeom prst="rect">
            <a:avLst/>
          </a:prstGeom>
          <a:solidFill>
            <a:srgbClr val="00893D"/>
          </a:solidFill>
          <a:ln w="6350">
            <a:solidFill>
              <a:srgbClr val="C1C1C1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380830" y="5212080"/>
            <a:ext cx="2179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 / hoch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9088222" y="5486400"/>
            <a:ext cx="201168" cy="164592"/>
          </a:xfrm>
          <a:prstGeom prst="rect">
            <a:avLst/>
          </a:prstGeom>
          <a:solidFill>
            <a:srgbClr val="99D0B1"/>
          </a:solidFill>
          <a:ln w="6350">
            <a:solidFill>
              <a:srgbClr val="C1C1C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380830" y="5458968"/>
            <a:ext cx="2179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mittel / teilweise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9088222" y="5733288"/>
            <a:ext cx="201168" cy="164592"/>
          </a:xfrm>
          <a:prstGeom prst="rect">
            <a:avLst/>
          </a:prstGeom>
          <a:solidFill>
            <a:srgbClr val="EFEFEF"/>
          </a:solidFill>
          <a:ln w="6350">
            <a:solidFill>
              <a:srgbClr val="C1C1C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380830" y="5705856"/>
            <a:ext cx="2179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nein / niedrig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9088222" y="5980176"/>
            <a:ext cx="201168" cy="164592"/>
          </a:xfrm>
          <a:prstGeom prst="rect">
            <a:avLst/>
          </a:prstGeom>
          <a:solidFill>
            <a:srgbClr val="FFFFFF"/>
          </a:solidFill>
          <a:ln w="6350">
            <a:solidFill>
              <a:srgbClr val="C1C1C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380830" y="5952744"/>
            <a:ext cx="21790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n/a, –, n.b.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(2026), basierend auf Roland-Berger-Benchmark (2026) und Experteninterviews (2026); VRIO nach Barney (1991, 1995); qualitative Einstufung, Regeln siehe B3.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| ERGEBNISSE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GAP-Analyse zeigt eine Industrialisierungs-, keine Technologielücke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3290" y="2103120"/>
          <a:ext cx="10927994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834640"/>
                <a:gridCol w="3017520"/>
                <a:gridCol w="233263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Handlungsfeld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Ist (intern, VRIO)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Soll (extern, Benchmark)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Gap-Relevanz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Kosten- und Preiswettbewerb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Hohe Stundensätze, Kostenindex ≈ 100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Wettbewerbsfähig (West ≈ 90–95, China ≈ 55–65)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Sehr hoch – 78,8 % der Verlustaufträge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Standardisierung und Modularität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Projektindividuell, geringe Wiederverwendung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Modulare Plattformen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 – strukturelle Ursache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Tendering und Projektsteuerung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Schwächen im Change-/Claim-Management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Belastbare Abwicklung, klare Eskalation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 – 10,7 % der Verlustaufträge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und Lifecycle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„Größtes Sorgenkind“, unstrukturiert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Strukturiertes Lifecycle-Angebot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Mittel–hoch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Technologie/Qualität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Stark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Erfüllt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Gering – Fit (positiver Befund)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0410" y="2505456"/>
            <a:ext cx="91440" cy="47548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0410" y="3054096"/>
            <a:ext cx="91440" cy="47548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0410" y="3602736"/>
            <a:ext cx="91440" cy="47548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0410" y="5440680"/>
            <a:ext cx="11110874" cy="74980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6209" y="5550408"/>
            <a:ext cx="106792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Priorisierungsregel (grüne Markierung = priorisiert):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Ein Gap ist prioritär, wenn </a:t>
            </a: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drei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Bedingungen gelten: (1) externe Anforderung besonders relevant · (2) interne Fähigkeit schwach · (3) direkte Wirkung auf Auftragserfolg, Marge oder langfristige Wettbewerbsfähigkeit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(2026), basierend auf Roland-Berger-Benchmark (2026) und Experteninterviews (2026); GAP-Analyse nach Kim &amp; Ji (2018), S. 1, 5 | Vertraulich – Sperrvermerk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| ERGEBNISSE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Optionen bewegen den SMB von der Risiko- in eine Hybridposition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CLOCK (VEREINFACHT)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17650" y="5715000"/>
            <a:ext cx="4206240" cy="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1317650" y="2788920"/>
            <a:ext cx="0" cy="292608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  <a:headEnd type="triangle"/>
          </a:ln>
        </p:spPr>
      </p:sp>
      <p:sp>
        <p:nvSpPr>
          <p:cNvPr id="7" name="Text 5"/>
          <p:cNvSpPr txBox="1"/>
          <p:nvPr/>
        </p:nvSpPr>
        <p:spPr>
          <a:xfrm>
            <a:off x="4426610" y="5769864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Preis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50138" y="27889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Wahrgenommener Kundennutzen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917850" y="3524098"/>
            <a:ext cx="1636776" cy="782726"/>
          </a:xfrm>
          <a:prstGeom prst="line">
            <a:avLst/>
          </a:prstGeom>
          <a:noFill/>
          <a:ln w="31750">
            <a:solidFill>
              <a:srgbClr val="00893D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 flipV="1">
            <a:off x="2917850" y="3108960"/>
            <a:ext cx="1720901" cy="296266"/>
          </a:xfrm>
          <a:prstGeom prst="line">
            <a:avLst/>
          </a:prstGeom>
          <a:noFill/>
          <a:ln w="31750">
            <a:solidFill>
              <a:srgbClr val="00893D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600346" y="4315968"/>
            <a:ext cx="164592" cy="164592"/>
          </a:xfrm>
          <a:prstGeom prst="ellipse">
            <a:avLst/>
          </a:prstGeom>
          <a:solidFill>
            <a:srgbClr val="646464"/>
          </a:solidFill>
          <a:ln w="15875">
            <a:solidFill>
              <a:srgbClr val="64646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07538" y="3350362"/>
            <a:ext cx="164592" cy="164592"/>
          </a:xfrm>
          <a:prstGeom prst="ellipse">
            <a:avLst/>
          </a:prstGeom>
          <a:solidFill>
            <a:srgbClr val="00893D"/>
          </a:solidFill>
          <a:ln w="15875">
            <a:solidFill>
              <a:srgbClr val="00893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84471" y="2999232"/>
            <a:ext cx="164592" cy="164592"/>
          </a:xfrm>
          <a:prstGeom prst="ellipse">
            <a:avLst/>
          </a:prstGeom>
          <a:solidFill>
            <a:srgbClr val="00893D"/>
          </a:solidFill>
          <a:ln w="15875">
            <a:solidFill>
              <a:srgbClr val="00893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66290" y="5193792"/>
            <a:ext cx="164592" cy="164592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4646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19602" y="453542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Heute: Risikoposition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erhöhter Preis, durchschnittlicher Nutzen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692554" y="304861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 kurz-/mittelfristig: Hybrid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709367" y="267004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Langfristig: fokussierte</a:t>
            </a:r>
            <a:endParaRPr lang="en-US" sz="1100" dirty="0"/>
          </a:p>
          <a:p>
            <a:pPr algn="r" indent="0" marL="0">
              <a:buNone/>
            </a:pPr>
            <a:r>
              <a:rPr lang="en-US" sz="11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Differenzierung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2085746" y="51663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Kostenführerschaft ausgeschlossen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65596" y="2318918"/>
            <a:ext cx="50698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STRATEGISCHE OPTIONEN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365596" y="2880360"/>
            <a:ext cx="329184" cy="329184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65596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41084" y="2852928"/>
            <a:ext cx="459440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Kostenoptimierung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Voraussetzung für tragfähige Position  |  Herleitung: Strategy Clock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365596" y="3547872"/>
            <a:ext cx="329184" cy="329184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65596" y="3547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841084" y="3520440"/>
            <a:ext cx="459440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Modularität und Design-to-Cost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Hebel für wirtschaftlichere Differenzierung  |  Herleitung: Strategy Clock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365596" y="4215384"/>
            <a:ext cx="329184" cy="329184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365596" y="4215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841084" y="4187952"/>
            <a:ext cx="459440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Industrialisierung Tendering und Projektsteuerung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Operative Absicherung aller Optionen  |  Herleitung: direkt aus GAP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365596" y="4882896"/>
            <a:ext cx="329184" cy="329184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365596" y="48828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41084" y="4855464"/>
            <a:ext cx="459440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Ausbau Service- und Lifecycle-Angebot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Differenzierung über den Lebenszyklus  |  Herleitung: Strategy Clock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365596" y="5550408"/>
            <a:ext cx="329184" cy="329184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65596" y="5550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841084" y="5522976"/>
            <a:ext cx="459440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Selektive Diversifikation in Wachstumsverticals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Gezieltes Wachstum in passenden Märkten  |  Herleitung: Ansoff + Clock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(2026), Strategy Clock und Ansoff-Matrix nach Whittington et al. (2020), S. 244–248; Benchmark-Fazit: „not to chase Chinese players' cost structures“.</a:t>
            </a:r>
            <a:endParaRPr lang="en-US" sz="900" dirty="0"/>
          </a:p>
        </p:txBody>
      </p:sp>
      <p:sp>
        <p:nvSpPr>
          <p:cNvPr id="37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38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| EVALUATION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SAF-Bewertung priorisiert Kosten und Projektsteuerung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103120"/>
          <a:ext cx="80010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143000"/>
                <a:gridCol w="1280160"/>
                <a:gridCol w="1463040"/>
                <a:gridCol w="1600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Suitability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Feasibility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Priorität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Kostenoptimierung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mittel–hoch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 – kurzfristig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Modularität und Design-to-Cost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 – mittelfristig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Tendering und Projektsteuerung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mittel–hoch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 – kurzfristig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Service und Lifecycle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mittel–hoch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 – mittelfristig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Selektive Diversifikation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D0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kurzfristig gering, langfristig hoch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Mittel – langfristig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649310" y="2103120"/>
            <a:ext cx="3001975" cy="416052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832190" y="2318918"/>
            <a:ext cx="2636215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PRIORISIERUNGSLOGIK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Kosten- und Ausführungslücke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schließen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größter Hebel, nah an bestehenden Strukturen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Differenzierungsfähigkeit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aufbauen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Modularität, Service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Wachstum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erschließen</a:t>
            </a:r>
            <a:endParaRPr lang="en-US" sz="1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selektive Diversifikation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Verhindert Übertragung bestehender Schwächen in neue Märkte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(2026); SAF nach Whittington et al. (2020), S. 375, 380, 385, 399. Qualitative Bewertung, bewusst kein gewichtetes Scoring (Scheingenauigkeit). Begründungen siehe B12.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| EVALUATION UND UMSETZUNG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dreiphasige Roadmap folgt einer Abhängigkeitslogik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410" y="2103120"/>
            <a:ext cx="11110874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86130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2986659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661508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M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336356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M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011205" y="2103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31850" y="2743200"/>
            <a:ext cx="2629129" cy="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1850" y="2651760"/>
            <a:ext cx="0" cy="18288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260979" y="2651760"/>
            <a:ext cx="0" cy="18288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3290" y="2615184"/>
            <a:ext cx="109728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60979" y="3008376"/>
            <a:ext cx="5349697" cy="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260979" y="2916936"/>
            <a:ext cx="0" cy="18288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10676" y="2916936"/>
            <a:ext cx="0" cy="18288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352419" y="2880360"/>
            <a:ext cx="109728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35828" y="3273552"/>
            <a:ext cx="5349697" cy="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935828" y="3182112"/>
            <a:ext cx="0" cy="18288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1285525" y="3182112"/>
            <a:ext cx="0" cy="182880"/>
          </a:xfrm>
          <a:prstGeom prst="line">
            <a:avLst/>
          </a:prstGeom>
          <a:noFill/>
          <a:ln w="15875">
            <a:solidFill>
              <a:srgbClr val="64646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027268" y="3145536"/>
            <a:ext cx="1097280" cy="16459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25400" rIns="2540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723290" y="3657600"/>
            <a:ext cx="3265932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| 0–6 MONATE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Kostenbasis und Projektgovernance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Verbindliche Design-to-Cost-Reviews im Angebot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Kostenmonitoring der Materialtreiber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Einheitliches Projektstatusformat, Angebots- mit Nachkalkulation verknüpfen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Verantwortlich: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Engineering, Einkauf, PM, Controlling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Kalkulationsabweichung, Angebotsdurchlaufzeit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462882" y="3657600"/>
            <a:ext cx="3265932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| 6–18 MONATE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Modularität, Design for Manufacturing, Service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Modul-Pilot mit wiederkehrenden Baugruppen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Standardisierte Servicepakete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Kapazitätsplanung und Lessons Learned verankern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Verantwortlich: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Engineering, Operations, Serviceleitung, Plattformverantwortliche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Wiederverwendungsgrad, Serviceumsatz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202473" y="3657600"/>
            <a:ext cx="3265932" cy="2496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| 12–24 MONATE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Selektive Diversifikation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Fokussierter Ansatz je Vertical: Zielkunden, Use Cases, Regulatorik, Referenzen</a:t>
            </a:r>
            <a:endParaRPr lang="en-US" sz="14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Medtech, Elektrifizierung, Netztechnologien, Rechenzentren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Verantwortlich: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Business Development, Sales, Top-Management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Qualifizierte Opportunities je Branche, neue Referenzprojekte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(2026). Zeiträume sind grobe Orientierungswerte (daher Überlappung); vollständiges KPI-Set siehe B13.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| KRITISCHE REFLEXION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Ergebnisse sind eine fundierte Ersteinschätzung mit klaren Grenzen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2052" y="2282342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LIMITATIONEN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Interviewperspektive: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nur 3 Interviews; Taicang vor allem Sales-nahe Sicht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Empirische Abdeckung: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Einkauf, Fertigung, Service, Controlling nicht befragt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Benchmark-Charakter: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„outside-in and directional“, nicht alleinige Entscheidungsbasis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 als Ersteinschätzung: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ohne Business Cases keine Investitionsentscheidung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 Ersteinschätzung, keine organisationsweite Validierung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1438" y="2282342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ADRESSIERT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VRIO extern gegengeprüft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mit Benchmark und Interviews (Tautologie-Kritik)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Interviews nur zur Plausibilisierung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Hauptdatenbasis ist der Benchmark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Externe Plausibilisierung: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IW-Lohnstückkosten (+22 %), Infront Consulting (2026)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gewichtetes Scoring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um Scheingenauigkeit zu vermeiden; Regeln offengelegt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Pilotlogik statt Big Bang: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Wirkung vor Skalierung messen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(2026); Priem (2001), S. 26 ff.; Schröder (2025), S. 1; Infront Consulting (2026).</a:t>
            </a:r>
            <a:endParaRPr lang="en-US" sz="900" dirty="0"/>
          </a:p>
        </p:txBody>
      </p:sp>
      <p:sp>
        <p:nvSpPr>
          <p:cNvPr id="10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11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| FAZIT UND AUSBLICK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Industrialisieren statt neu positionieren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64108" y="2212848"/>
            <a:ext cx="10571378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„Die Weiterentwicklung des SMB liegt nicht in einer grundlegenden Neupositionierung, sondern in der konsequenten Industrialisierung und wirtschaftlichen Skalierung vorhandener Kompetenzen.“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56209" y="3478378"/>
            <a:ext cx="3200095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AUF DIE FORSCHUNGSFRAGE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Handlungsfelder: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Kosten, Standardisierung, Tendering/Projektsteuerung, Service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Initiativen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abgeleitet und SAF-bewertet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Wertvolle Ressourcen werden nicht in </a:t>
            </a: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wiederholbare, skalierbare Marktleistungen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überführt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495800" y="3478378"/>
            <a:ext cx="3200095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PRIORISIERUNG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Kurzfristig: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Kostenoptimierung, Tendering und Projektsteuerung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Mittelfristig: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Modularität und Design-to-Cost, Service und Lifecycle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Langfristig: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selektive Diversifikation (Medtech, Elektrifizierung)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35391" y="3478378"/>
            <a:ext cx="3200095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 SCHRITTE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1: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Design-to-Cost in wiederkehrendem Anlagenbereich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2: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standardisierter Projekt-Performance-Review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3: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Service-Pilot mit bestehendem Key Account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Validierung: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Interviews ausweiten, Business Cases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540410" y="2514600"/>
            <a:ext cx="111108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</a:t>
            </a:r>
            <a:endParaRPr lang="en-US" sz="5400" dirty="0"/>
          </a:p>
        </p:txBody>
      </p:sp>
      <p:sp>
        <p:nvSpPr>
          <p:cNvPr id="3" name="Text 5"/>
          <p:cNvSpPr/>
          <p:nvPr>
            <p:ph idx="106" type="body" hasCustomPrompt="1"/>
          </p:nvPr>
        </p:nvSpPr>
        <p:spPr>
          <a:xfrm>
            <a:off x="540410" y="3611880"/>
            <a:ext cx="111108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und Diskussion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title" hasCustomPrompt="1"/>
          </p:nvPr>
        </p:nvSpPr>
        <p:spPr>
          <a:xfrm>
            <a:off x="540410" y="2514600"/>
            <a:ext cx="111108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</a:t>
            </a:r>
            <a:endParaRPr lang="en-US" sz="5400" dirty="0"/>
          </a:p>
        </p:txBody>
      </p:sp>
      <p:sp>
        <p:nvSpPr>
          <p:cNvPr id="3" name="Text 5"/>
          <p:cNvSpPr/>
          <p:nvPr>
            <p:ph idx="106" type="body" hasCustomPrompt="1"/>
          </p:nvPr>
        </p:nvSpPr>
        <p:spPr>
          <a:xfrm>
            <a:off x="540410" y="3611880"/>
            <a:ext cx="111108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Vertiefungen für die Fragerunde (B1–B18)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Backup-Index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04849" y="2318918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action="ppaction://hlinksldjump" tooltip="B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Theoretischer Bezugsrahmen im Detail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6209" y="272125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04849" y="2721254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B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RBV und VRIO inkl. Kritik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6209" y="312359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04849" y="3123590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action="ppaction://hlinksldjump" tooltip="B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VRIO-Bewertungslogik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56209" y="352592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B4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04849" y="3525926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B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Interviewdesign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56209" y="392826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B5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04849" y="3928262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 tooltip="B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Interview-Kernaussagen je Standort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756209" y="433059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B6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304849" y="4330598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action="ppaction://hlinksldjump" tooltip="B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Benchmark: Kostenstruktur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756209" y="473293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B7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04849" y="4732934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action="ppaction://hlinksldjump" tooltip="B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Benchmark: Peer-Radar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56209" y="513527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B8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304849" y="5135270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action="ppaction://hlinksldjump" tooltip="B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Benchmark: Kundenerfolgsfaktoren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56209" y="553760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B9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04849" y="5537606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action="ppaction://hlinksldjump" tooltip="B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Verlustauftragsanalyse vollständig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311646" y="231891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860286" y="2318918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0" action="ppaction://hlinksldjump" tooltip="B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Strategy Clock und Ansoff im Detail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311646" y="272125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B11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860286" y="2721254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1" action="ppaction://hlinksldjump" tooltip="B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Verworfene Alternativen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11646" y="312359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B12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860286" y="3123590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2" action="ppaction://hlinksldjump" tooltip="B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SAF-Begründungen je Option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311646" y="352592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B13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860286" y="3525926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3" action="ppaction://hlinksldjump" tooltip="B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Roadmap: vollständiges KPI-Set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311646" y="392826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60286" y="3928262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4" action="ppaction://hlinksldjump" tooltip="B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Marktsegmente und Regionen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311646" y="4330598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860286" y="4330598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5" action="ppaction://hlinksldjump" tooltip="B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Quellenverzeichnis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311646" y="473293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B16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860286" y="4732934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6" action="ppaction://hlinksldjump" tooltip="B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[PLATZHALTER: Thema]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6311646" y="5135270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B17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860286" y="5135270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7" action="ppaction://hlinksldjump" tooltip="B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[PLATZHALTER: Thema]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311646" y="553760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B18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6860286" y="5537606"/>
            <a:ext cx="445815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8" action="ppaction://hlinksldjump" tooltip="B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[PLATZHALTER: Thema]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Klick auf den Titel springt zur jeweiligen Backup-Folie.</a:t>
            </a:r>
            <a:endParaRPr lang="en-US" sz="900" dirty="0"/>
          </a:p>
        </p:txBody>
      </p:sp>
      <p:sp>
        <p:nvSpPr>
          <p:cNvPr id="41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B1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 | Der Bezugsrahmen ist eine fallbezogene Auswahl aus Exploring Strategy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103120"/>
          <a:ext cx="11110874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080760"/>
                <a:gridCol w="2926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Baustein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Funktion in der Arbeit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Strategiebegriff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Langfristige Ausrichtung der Ressourcen auf ein verändertes Umfeld; Ziel: nachhaltiger Wettbewerbsvorteil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Whittington et al., 2020, S. 4; Barney, 1991, S. 102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Exploring Strategy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Strukturrahmen: Strategic Position (Kap. 3) → Strategic Choices (Kap. 4) → Strategy in Action (Kap. 5)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Whittington et al., 2020, S. 11 f.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RBV + VRIO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Interpretationsraster für interne Ressourcen; Organization für den SMB zentral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Barney, 1991; Barney, 1995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GAP-Analyse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Ist (VRIO) vs. Soll (Benchmark): Anforderungen → Soll → Lücken → Maßnahmen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Kim &amp; Ji, 2018, S. 1, 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Clock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Positionierungslogik: Preis vs. wahrgenommener Kundennutzen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Whittington et al., 2020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Ansoff-Matrix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Wachstumslogik; ergänzendes Instrument, kein Hauptmodell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Whittington et al., 2020, S. 244–248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SAF-Framework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Bewertung nach Suitability, Acceptability, Feasibility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Whittington et al., 2020, S. 375, 380, 385, 399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0410" y="5349240"/>
            <a:ext cx="11110874" cy="841248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56209" y="5440680"/>
            <a:ext cx="106792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nur ein Teil des Werkzeugkastens?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Bewusst keine vollständige Anwendung von Exploring Strategy, sondern eine fallbezogene Auswahl entlang der für den SMB relevanten Entscheidungsdimensionen: </a:t>
            </a: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Wettbewerbspositionierung, Wachstumsrichtung, Bewertbarkeit und Umsetzbarkeit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 nach den angegebenen Quellen.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B2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 | VRIO konkretisiert den RBV; die Tautologie-Kritik wird extern abgefedert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RBV UND VRIO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RBV: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Unterschiede in Ressourcen erklären unterschiedlichen Erfolg im gleichen Marktumfeld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nutzt Chancen, reduziert Risiken oder schafft Kundennutzen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Rarity: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Wettbewerber verfügen nicht vergleichbar darüber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Imitability: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Wettbewerber können sie nicht kurzfristig kopieren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Organization: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Unternehmen kann die Ressource wirksam einsetzen (Barney, 1995)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UND ABFEDERUNG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Tautologie-Vorwurf: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Wert einer Ressource wird oft erst am beobachteten Erfolg abgelesen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Damit droht das Kriterium Value zirkulär zu werden (Priem, 2001, S. 26 ff.)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Abfederung:</a:t>
            </a:r>
            <a:r>
              <a:rPr lang="en-US" sz="1400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VRIO-Bewertung wird in Kap. 3.5 </a:t>
            </a:r>
            <a:r>
              <a:rPr lang="en-US" sz="14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 gegen Benchmark und Interviews gegengeprüft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Barney (1991), S. 100 ff.; Barney (1995); Barney, Ketchen &amp; Wright (2011), S. 1300; Priem (2001), S. 26 ff.</a:t>
            </a:r>
            <a:endParaRPr lang="en-US" sz="900" dirty="0"/>
          </a:p>
        </p:txBody>
      </p:sp>
      <p:sp>
        <p:nvSpPr>
          <p:cNvPr id="7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B3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 | Die VRIO-Einstufung folgt offengelegten qualitativen Regeln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BEWERTUNGSREGELN (KEINE METRISCHE SKALA)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Hoch: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Benchmark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mind. 2 von 3 Interviews übereinstimmend positiv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Mittel: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Einschätzungen uneinheitlich oder nicht über alle Quellen bestätigt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Niedrig: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Benchmark und Interviews übereinstimmend schwach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SONDERFALL PREIS- UND KOSTENSTRUKTUR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Ressource im VRIO-Sinne, sondern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der Organisation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der übrigen Ressourcen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Rarity und Imitability sind darauf nicht anwendbar → „–“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 daher direkt als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Wettbewerbsnachteil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klassifiziert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(2026).</a:t>
            </a:r>
            <a:endParaRPr lang="en-US" sz="900" dirty="0"/>
          </a:p>
        </p:txBody>
      </p:sp>
      <p:sp>
        <p:nvSpPr>
          <p:cNvPr id="7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B4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B4 | Drei teilstrukturierte Experteninterviews validieren die Benchmark-Befunde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Methode: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leitfadengestützte, teilstrukturierte Experteninterviews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Rahmen: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Interviews, Juli 2026, MS Teams, je ca. 30 min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Befragte: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Taicang (Commercial Sales), Europa (External KAM), Cheraw (PMO)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deduktiv entlang der Leitfadenkategorien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Zweck: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Validierung, Präzisierung, Kontextualisierung – keine Repräsentativität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LEITFADEN: 6 THEMENBLÖCKE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Geschäftsmodelle: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Hauptstärken in Special Machinery, Standard Machines, After Sales &amp; Service, Digital Solutions?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Marktsegmente: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Stärken und Herausforderungen in Automotive, Industrie, Medtech, Consumer, Defense?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Regionale Märkte: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Stärken und Schwächen in Europa und China?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Funktionsbereiche: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Stärken und Potenziale von Concept Development bis Recommissioning?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Aussicht: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kurz- oder langfristige Priorität, Quick Wins?</a:t>
            </a:r>
            <a:endParaRPr lang="en-US" sz="1400" dirty="0"/>
          </a:p>
          <a:p>
            <a:pPr marL="228600" indent="-2286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Sonstiges:</a:t>
            </a: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freies Feedback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(2026); Nagel &amp; Meuser (2009), S. 470, 472 f.; Leitfaden im Anhang der Arbeit.</a:t>
            </a:r>
            <a:endParaRPr lang="en-US" sz="900" dirty="0"/>
          </a:p>
        </p:txBody>
      </p:sp>
      <p:sp>
        <p:nvSpPr>
          <p:cNvPr id="7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B5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B5 | Die Interviews bestätigen Kosten, Steuerung und Service als Kernthemen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0410" y="2103120"/>
            <a:ext cx="3631692" cy="416052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6209" y="2318918"/>
            <a:ext cx="3200095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TAICANG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Sales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Agilität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als Stärke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Medtech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stark, Automotive Durchschnitt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Projektmanagement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größte Schwäche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Standardisierung ausbauen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stärken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280002" y="2103120"/>
            <a:ext cx="3631692" cy="416052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95800" y="2318918"/>
            <a:ext cx="3200095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EUROPA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Key Account Management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Stundensätze, „Wasserkopf“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„Sorgenkind“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 unterbesetzt, </a:t>
            </a: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 stärken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Potenzial: Siemens, Siemens Energy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Energiewende/Datenzentren; Warnung vor Humanoid-Hype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019593" y="2103120"/>
            <a:ext cx="3631692" cy="416052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35391" y="2318918"/>
            <a:ext cx="3200095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CHERAW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PMO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Fragmentierte Steuerung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Ungenaue Zeitbuchung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Schwankende Engineering-Auslastung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Fehlende </a:t>
            </a: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Lessons Learned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Truth, DFM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Interviews Commercial Sales (Taicang), External Key Account Management (Europa), PMO (Cheraw), jeweils Juli 2026.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B6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B6 | Die größten Kostenhebel liegen bei Design, Material und Commissioning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103120"/>
          <a:ext cx="76809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737360"/>
                <a:gridCol w="1737360"/>
                <a:gridCol w="1737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Kostenblock (Anteil am SMB-Index)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Schaeffler SMB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9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Westliche Wettbewerber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Chinesische Wettbewerber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40–45 %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20–30 %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10–15 %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5–10 %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Commissioning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10–15 %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5–10 %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Montage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5–10 %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5 %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Sekundärkosten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(Kostenindex)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90–95 %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55–65 %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329270" y="2103120"/>
            <a:ext cx="3322015" cy="416052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45068" y="2318918"/>
            <a:ext cx="2890418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Größte Hebel laut Benchmark: </a:t>
            </a: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Design, Material, Commissioning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Ursachen auch: ineffiziente Projektausführung, geringe Wiederverwendung, schwache Industrialisierung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Benchmark-Fazit: „not to chase Chinese players' cost structures“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Roland-Berger-Benchmark (2026), vertraulich | Vertraulich – Sperrvermerk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B7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B7 | Im Peer-Radar führt der SMB bei Technologie, liegt aber bei Industrialisierung zurück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BEFUND (QUALITATIV)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12-dimensionales Peer-Radar,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 1–5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SMB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führend bzw. anschlussfähig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bei Technologie und Qualität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1–2 Punkte zurück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bei Kosten, Modularität, Tendering, Change/Claim, Procurement, Lifecycle, Digital Tools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Benchmark-Fazit: „An industrialization gap, not a technology gap.“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Hinweis der Quelle: „Scores are outside-in and directional“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365596" y="2318918"/>
            <a:ext cx="5069891" cy="3728923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Radar-Grafik aus Benchmark einfügen]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Roland-Berger-Benchmark (2026), vertraulich | Vertraulich – Sperrvermerk</a:t>
            </a:r>
            <a:endParaRPr lang="en-US" sz="900" dirty="0"/>
          </a:p>
        </p:txBody>
      </p:sp>
      <p:sp>
        <p:nvSpPr>
          <p:cNvPr id="8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9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B8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B8 | Kunden belohnen Qualität und Erfahrung, akzeptieren aber nur begrenzte Aufschläge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103120"/>
          <a:ext cx="1111087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526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Erfolgsfaktor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Kernaussage (Kundensicht)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Sicht auf Schaeffler SMB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Qualität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Zentrale Anforderung, allein aber nicht ausreichend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Stark; externe Kunden (Siemens Energy, Philips, Stryker, BMW) sehr zufrieden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Preisaufschlag von 10–15 % bei bestehender Beziehung akzeptiert, wenn begründet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Kritisch: Kostenindex 100 vs. West ≈ 90–95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Liefertreue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Belastbare Abwicklung, kontrollierte Änderungen, klare Eskalation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Verbesserungsbedarf im Change-/Claim-Management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Erfahrung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Markt belohnt nachgewiesene Erfahrung und risikoarme Ausführung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Anlagenbau- und Ramp-up-Erfahrung vorhanden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Fähigkeiten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Leistungsfähigkeit über den Lebenszyklus (Service, Betreuung)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„größtes Sorgenkind“, zugleich Potenzial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0410" y="5413248"/>
            <a:ext cx="11110874" cy="777240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56209" y="5413248"/>
            <a:ext cx="106792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Kundenzitat im Benchmark: 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„a range of 15–20 % difference is acceptable“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Roland-Berger-Benchmark (2026), vertraulich; Experteninterviews (2026) | Vertraulich – Sperrvermerk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B9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B9 | Verlustauftragsanalyse: 612 Mio. EUR verlorenes Volumen nach Gründen</a:t>
            </a:r>
            <a:endParaRPr lang="en-US" sz="26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10312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011680"/>
                <a:gridCol w="14630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 für Auftragsverlust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Volumen (EUR)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Anteil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zu hoch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482.102.550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08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89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Mangelhafte Projektausführung im Vorprojekt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65.506.779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 Gründe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31.592.029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Verschoben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21.833.650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3,6 %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Fehlendes Vertrauen als Neulieferant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7.163.065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Lieferzeit zu lang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3.877.695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612.075.768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Schaeffler Special Machinery / Roland-Berger-Benchmark (2026), vertraulich; Zeitraum 01/2024–06/2026 | Vertraulich – Sperrvermerk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B10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B10 | Strategy Clock und Ansoff verorten Ziel- und Wachstumsposition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CLOCK (PREIS VS. NUTZEN)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erhöhter Preis bei durchschnittlichem, nicht klar differenziertem Nutzen → nahe </a:t>
            </a: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Risikoposition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Kurz- bis mittelfristig: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Hybridposition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Kosten und Modularität für wettbewerbsfähigen Preis, Service und Technik für Zusatznutzen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Langfristig: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fokussierte Differenzierung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weniger preissensitiven Branchen (Medtech, Elektrifizierung)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Kostenführerschaft ausgeschlossen: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strukturelle Kostenbasis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365596" y="2318918"/>
            <a:ext cx="50698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ANSOFF-MATRIX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292797" y="3017520"/>
            <a:ext cx="2017395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84237" y="3090672"/>
            <a:ext cx="18345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Marktdurchdringung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418091" y="3017520"/>
            <a:ext cx="2017395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509531" y="3090672"/>
            <a:ext cx="18345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Produktentwicklung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292797" y="4387291"/>
            <a:ext cx="2017395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84237" y="4460443"/>
            <a:ext cx="18345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Marktentwicklung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418091" y="4387291"/>
            <a:ext cx="2017395" cy="1261872"/>
          </a:xfrm>
          <a:prstGeom prst="rect">
            <a:avLst/>
          </a:prstGeom>
          <a:solidFill>
            <a:srgbClr val="FFFFFF"/>
          </a:solidFill>
          <a:ln w="9525">
            <a:solidFill>
              <a:srgbClr val="64646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531" y="4460443"/>
            <a:ext cx="18345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Diversifikation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292797" y="2724912"/>
            <a:ext cx="20173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bestehende Produkte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418091" y="2724912"/>
            <a:ext cx="20173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Produkte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286957" y="3017520"/>
            <a:ext cx="914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bestehende Märkte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286957" y="4387291"/>
            <a:ext cx="91440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Märkte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200625" y="4954219"/>
            <a:ext cx="2327034" cy="475488"/>
          </a:xfrm>
          <a:prstGeom prst="rect">
            <a:avLst/>
          </a:prstGeom>
          <a:solidFill>
            <a:srgbClr val="00893D"/>
          </a:solidFill>
          <a:ln w="12700">
            <a:solidFill>
              <a:srgbClr val="0089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00625" y="4954219"/>
            <a:ext cx="232703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5: selektive Diversifikation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65596" y="5696712"/>
            <a:ext cx="506989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Marktentwicklung (bestehende Kompetenz in neue Branchen) bis Diversifikation (neue Regulatorik/Wertversprechen)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 nach Whittington et al. (2020), S. 244–248.</a:t>
            </a:r>
            <a:endParaRPr lang="en-US" sz="900" dirty="0"/>
          </a:p>
        </p:txBody>
      </p:sp>
      <p:sp>
        <p:nvSpPr>
          <p:cNvPr id="22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3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B11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B11 | Outsourcing und M&amp;A wurden begründet verworfen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OUTSOURCING VON ENGINEERING/FERTIGUNG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Verlagerung an günstigere Partner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Verworfen: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würde die als wertvoll eingestufte,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kundennahe Engineering-Kompetenz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(Kernvorteil) strukturell schwächen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MARKTEINTRITT ÜBER M&amp;A ODER JOINT VENTURE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Anorganisches Wachstum in neue Märkte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Verworfen: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organisatorische Kapazitäten begrenzt, </a:t>
            </a:r>
            <a:r>
              <a:rPr lang="en-US" sz="14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Prozessbasis noch nicht stabil</a:t>
            </a: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organisches Wachstum risikoärmer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Optionsauswahl = „begründete Auswahl innerhalb eines breiteren Möglichkeitsraums“, nicht die einzig denkbare Antwort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(2026).</a:t>
            </a:r>
            <a:endParaRPr lang="en-US" sz="900" dirty="0"/>
          </a:p>
        </p:txBody>
      </p:sp>
      <p:sp>
        <p:nvSpPr>
          <p:cNvPr id="7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B12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B12 | Begründungen der SAF-Einstufung je Option</a:t>
            </a:r>
            <a:endParaRPr lang="en-US" sz="2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103120"/>
          <a:ext cx="11110874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667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Begründung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Kostenoptimierung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Größter wirtschaftlicher Hebel; Funktionen vorhanden, müssen besser verzahnt werden (Transparenz, Zeitbuchung)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Modularität und Design-to-Cost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Verbindet Kostenreduktion mit Wiederverwendung; Akzeptanz differenziert, da Engineering Standardisierung als Einschränkung empfinden kann; braucht Standards, Verantwortlichkeiten, Pilotierung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Tendering und Projektsteuerung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Reagiert direkt auf Change-/Claim-Defizite; hohe Akzeptanz durch Transparenz für viele Stakeholder; baut auf bestehenden Strukturen auf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Service und Lifecycle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Stärkt Differenzierung und Kundenbindung, adressiert aber nicht den größten Kostendruck; Prozesse, Rollen und Pakete müssen erst aufgebaut werden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Selektive Diversifikation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Attraktiv: Medtech, Industrie; kritisch: Automotive (preissensibel), Defense (geringes Volumen, starker Wettbewerb); Warnung vor Humanoids/Physical-AI-Hype; Referenzen und Marktverständnis fehlen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(2026), basierend auf Roland-Berger-Benchmark (2026) und Experteninterviews (2026).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B13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B13 | Jede Roadmap-Phase hat eigene Verantwortliche und messbare KPIs</a:t>
            </a:r>
            <a:endParaRPr lang="en-US" sz="26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0410" y="2103120"/>
          <a:ext cx="11110874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834640"/>
                <a:gridCol w="55321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Verantwortlich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6464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| 0–6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Kostenbasis und Projektgovernance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Engineering, Einkauf, Projektmanagement, Controlling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Angebotsdurchlaufzeit, Kalkulationsabweichung, Kostenabweichung in laufenden Projekten, Anteil der Projekte mit Standard-Statusreview, Transparenzquote über die Hauptkostentreiber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| 6–18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Modularität, DFM, Service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Engineering, Operations, Serviceleitung, Plattformverantwortliche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Wiederverwendungsgrad der Module, Engineering-Aufwand pro Projekt, Materialvarianz, Nacharbeitsquote, Serviceumsatz, Reaktionszeit, Kundenzufriedenheit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| 12–24 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Selektive Diversifikation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Development, Sales, Top-Management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64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Qualifizierte Opportunities je Branche, neue Referenzprojekte, Angebotserfolgsquote je Vertical, Anteil neuer Branchen am Auftragseingang, Anzahl Key Accounts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36576" marB="36576" anchor="ctr">
                    <a:lnL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1C1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eigene Darstellung (2026), Tabelle 4 der Arbeit.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B14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B14 | Medtech und Industrie sind attraktiv, Automotive und Defense kritisch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MARKTSEGMENTE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Medtech (+):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Key Account „MedTech One“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(+):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Elektrifizierung, Netze, Datenzentren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Automotive: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preissensibel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Europa ok, Asien preislich schwierig; „Key Account Light“ Philips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kritisch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Humanoids/Physical AI: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prüfen, Geschäftsmodell unklar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REGIONEN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Europa: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relativ gut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preislich schwierig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Wachstum ohne Präsenz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Amerika:</a:t>
            </a:r>
            <a:r>
              <a:rPr lang="en-US" sz="13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nur intern bespielbar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0410" y="6309360"/>
            <a:ext cx="11110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9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Quelle: Experteninterviews (2026); Roland-Berger-Benchmark (2026), vertraulich.</a:t>
            </a:r>
            <a:endParaRPr lang="en-US" sz="900" dirty="0"/>
          </a:p>
        </p:txBody>
      </p:sp>
      <p:sp>
        <p:nvSpPr>
          <p:cNvPr id="7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8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B15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B15 | Quellenverzeichnis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56209" y="2318918"/>
            <a:ext cx="5202479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Baden-Fuller, C. (1995): Strategic Innovation, Corporate Entrepreneurship and Matching Outside-in to Inside-out Approaches to Strategy Research. British Journal of Management, S. 3–16.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Barney, J. (1991): Firm Resources and Sustained Competitive Advantage. Journal of Management, 17, S. 99–120. https://doi.org/10.1177/014920639101700108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Barney, J. (1995): Looking Inside for Competitive Advantage. Academy of Management Executive, 9, S. 49–61.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Barney, J. B.; Ketchen, D. J.; Wright, M. (2011): The future of resource-based theory: Revitalization or decline? Journal of Management, 37(5), S. 1299–1315.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Infront Consulting (2026): Der Weg zu einem neuen Premium – Wie der deutsche Maschinenbau sein Erfolgsmodell neu ausrichtet.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Kim, S.; Ji, Y. (2018): Gap Analysis. In: The International Encyclopedia of Strategic Communication. Wiley. https://doi.org/10.1002/9781119010722.iesc0079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Meuser, M.; Nagel, U. (2009): Das Experteninterview – konzeptionelle Grundlagen und methodische Anlage. In: Methoden der vergleichenden Politik- und Sozialwissenschaft, S. 465–479.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233008" y="2318918"/>
            <a:ext cx="5202479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Priem, R. L. (2001): Is the Resource-Based „View“ a Useful Perspective for Strategic Management Research? Academy of Management Review, 26(1), S. 22–40.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Produktion (2026): Wo der deutsche Maschinenbau wieder wachsen kann.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Schröder, C. (2025): IW-Trends 2/2025 – Lohnstückkosten, Produktivität und Wettbewerbsfähigkeit der deutschen Industrie. Institut der deutschen Wirtschaft Köln.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Whittington, R. et al. (2020): Exploring Strategy: Text and Cases. 12. Aufl., Harlow: Pearson.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Roland Berger / Schaeffler Special Machinery (2026): Benchmark – Competitive positioning of SMB (intern, vertraulich; vollständige Quellenangabe entfällt aus Vertraulichkeitsgründen).</a:t>
            </a:r>
            <a:endParaRPr lang="en-US" sz="14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Interviews: Commercial Sales (Taicang), External Key Account Management (Europa), PMO (Cheraw), jeweils Juli 2026.</a:t>
            </a:r>
            <a:endParaRPr lang="en-US" sz="1400" dirty="0"/>
          </a:p>
        </p:txBody>
      </p:sp>
      <p:sp>
        <p:nvSpPr>
          <p:cNvPr id="6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B16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B16 | [PLATZHALTER: Thema]</a:t>
            </a:r>
            <a:endParaRPr lang="en-US" sz="2600" dirty="0"/>
          </a:p>
        </p:txBody>
      </p:sp>
      <p:sp>
        <p:nvSpPr>
          <p:cNvPr id="4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Inhalt]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B17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B17 | [PLATZHALTER: Thema]</a:t>
            </a:r>
            <a:endParaRPr lang="en-US" sz="2600" dirty="0"/>
          </a:p>
        </p:txBody>
      </p:sp>
      <p:sp>
        <p:nvSpPr>
          <p:cNvPr id="4" name="Text 6"/>
          <p:cNvSpPr/>
          <p:nvPr>
            <p:ph idx="108" type="body" hasCustomPrompt="1"/>
          </p:nvPr>
        </p:nvSpPr>
        <p:spPr>
          <a:xfrm>
            <a:off x="756209" y="2318918"/>
            <a:ext cx="10679278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Inhalt]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/>
          <p:nvPr>
            <p:ph idx="105" type="body" hasCustomPrompt="1"/>
          </p:nvPr>
        </p:nvSpPr>
        <p:spPr>
          <a:xfrm>
            <a:off x="540410" y="841248"/>
            <a:ext cx="882487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8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B18</a:t>
            </a:r>
            <a:endParaRPr lang="en-US" sz="1200" dirty="0"/>
          </a:p>
        </p:txBody>
      </p:sp>
      <p:sp>
        <p:nvSpPr>
          <p:cNvPr id="3" name="Text 5"/>
          <p:cNvSpPr/>
          <p:nvPr>
            <p:ph idx="106" type="title" hasCustomPrompt="1"/>
          </p:nvPr>
        </p:nvSpPr>
        <p:spPr>
          <a:xfrm>
            <a:off x="540410" y="1097280"/>
            <a:ext cx="1111087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B18 | [PLATZHALTER: Thema]</a:t>
            </a:r>
            <a:endParaRPr lang="en-US" sz="2600" dirty="0"/>
          </a:p>
        </p:txBody>
      </p:sp>
      <p:sp>
        <p:nvSpPr>
          <p:cNvPr id="4" name="Text 7"/>
          <p:cNvSpPr/>
          <p:nvPr>
            <p:ph idx="109" type="body" hasCustomPrompt="1"/>
          </p:nvPr>
        </p:nvSpPr>
        <p:spPr>
          <a:xfrm>
            <a:off x="756209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Inhalt]</a:t>
            </a:r>
            <a:endParaRPr lang="en-US" sz="1400" dirty="0"/>
          </a:p>
        </p:txBody>
      </p:sp>
      <p:sp>
        <p:nvSpPr>
          <p:cNvPr id="5" name="Text 7"/>
          <p:cNvSpPr/>
          <p:nvPr>
            <p:ph idx="110" type="body" hasCustomPrompt="1"/>
          </p:nvPr>
        </p:nvSpPr>
        <p:spPr>
          <a:xfrm>
            <a:off x="6365596" y="2318918"/>
            <a:ext cx="5069891" cy="37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464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[PLATZHALTER: Inhalt]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36885" y="6605626"/>
            <a:ext cx="914400" cy="25237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haeffler PA2">
  <a:themeElements>
    <a:clrScheme name="Schaeffler PA2">
      <a:dk1>
        <a:srgbClr val="646464"/>
      </a:dk1>
      <a:lt1>
        <a:srgbClr val="FFFFFF"/>
      </a:lt1>
      <a:dk2>
        <a:srgbClr val="646464"/>
      </a:dk2>
      <a:lt2>
        <a:srgbClr val="EFEFEF"/>
      </a:lt2>
      <a:accent1>
        <a:srgbClr val="00893D"/>
      </a:accent1>
      <a:accent2>
        <a:srgbClr val="99D0B1"/>
      </a:accent2>
      <a:accent3>
        <a:srgbClr val="646464"/>
      </a:accent3>
      <a:accent4>
        <a:srgbClr val="C1C1C1"/>
      </a:accent4>
      <a:accent5>
        <a:srgbClr val="EFEFEF"/>
      </a:accent5>
      <a:accent6>
        <a:srgbClr val="00893D"/>
      </a:accent6>
      <a:hlink>
        <a:srgbClr val="00893D"/>
      </a:hlink>
      <a:folHlink>
        <a:srgbClr val="646464"/>
      </a:folHlink>
    </a:clrScheme>
    <a:fontScheme name="Schaeffler PA2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DHBW Mannheim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Strategie- und Maßnahmenentwicklung für den Schaeffler Sondermaschinenbau</dc:title>
  <dc:subject>PptxGenJS Presentation</dc:subject>
  <dc:creator>Lennart Kleemann</dc:creator>
  <cp:lastModifiedBy>Lennart Kleemann</cp:lastModifiedBy>
  <cp:revision>1</cp:revision>
  <dcterms:created xsi:type="dcterms:W3CDTF">2026-10-13T13:08:15Z</dcterms:created>
  <dcterms:modified xsi:type="dcterms:W3CDTF">2026-10-13T13:08:15Z</dcterms:modified>
</cp:coreProperties>
</file>